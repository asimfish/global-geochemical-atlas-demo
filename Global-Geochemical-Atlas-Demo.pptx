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2" r:id="rId14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我们交付的不是一张预先做好的地图，而是一套可执行科研工作流。Agent 接到元素、区域、地质单元和样品类型请求后，能够采集公开测定、完成科学标准化、生成研究视图，并把每个关键结论绑定到记录级证据。地图只是入口；真正的产品是可追溯、可验证、可迭代、可跨 Agent 平台复用的 Skill。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的核心不是长提示词，而是四层结构。SKILL.md 只保留九阶段状态机、决策门和失败状态；references 维护 JSON Schema、科学规则、来源准入，以及 EarthChem ECL、USGS AGDB2、ODM2、IGSN/DataCite 的专业字段 crosswalk；scripts 把单位、坐标、QC、异常和地图变成确定性执行；fixtures 与评测则证明离线复现和 uplift。格式采用 Agent Skills 公共子集，OpenCode 隔离评测与 Skill 挂载已接入；Codex、命令行和 CI 通过普通文件与命令接口调用。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比记录总量更重要的是，每一条记录能不能被核查。用户从地图点进入 canonical record_id，可以看到原始值、原单位和 qualifier、来源原生记录 ID、精确 source locator，以及文件和运行 manifest 的 SHA-256。geochemistry.csv 与 record_evidence.jsonl 一一绑定，acquisition manifest 再绑定输入、sidecar 和输出。标准化不会覆盖原始值，转换因子、公式和 QC 都另列保存。同时我们明确：哈希证明链路一致，不自动证明测量真实或异常成因。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D3 不是一张固定网页。Agent 先把用户问题编译成可复现 profile，明确 story、全球或区域范围、元素、介质、样品类型、地质、方法和元素组合，再由确定性脚本渲染并独立验证。它支持 overview、coverage、anomaly、comparison、database 和 evidence 六类问题。正式报告同时锁定 D1/D2 输入哈希、profile 哈希和输出哈希；浏览器中的瞬时筛选只有导出 profile 并重渲染后，才成为可复现研究产物。D3 不重算 D2 的科学结论。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 loop 不是让模型反复改答案，而是一个可审计控制面。验证器先检查十五项产物，生成 iteration_backlog，再按负责人和问题码把 action_required 路由到 D1 或 D2：D1 补来源定位、许可、坐标和方法证据，D2 补确定性转换、空间匹配或 QC 规则。随后重跑并比较稳定 item_id，最多两轮；问题不下降、阻塞重复或只能靠猜测时，停止并返回 needs_human_review。review_required 必须人工判断；scientific_limit 是删失或背景不足，不能被自动填值伪装修复。原始证据和 canonical 历史始终不可变，每次修复都生成新的可审计运行。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交互地图、标准化数据库、来源与置信度说明、异常区域识别结果，都不是孤立附件，而是同一个 Skill 执行后产生、由十五项契约共同验证的研究产物。它们共享记录级证据链、可复现 profile、失败状态和迭代 loop。真正可复用的不是某次运行的四万条记录，而是任何兼容 Agent 都能按照相同科学契约，针对新的元素、区域、地质单元和样品类型重新执行。比赛最终提交物仍然只有一个：完整、可复用的 Skill 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这里是最终产品效果，而不是设计图。左侧是 Skill 生成的全球元素分布图谱，可以按元素、区域、地质单元和样品类型检索，热力图显示采样密度，点击记录可进入来源证据。右侧是同一 Skill 生成的区域研究视图，使用严格边界裁剪，支持元素组合和 high / low 异常候选复核。两个视图共享同一标准数据库、来源与置信度说明以及异常结果；评委可以直接打开离线交互页面操作。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obal-overview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03141B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3141B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1148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AI4S FUTURE SCIENCESKILLS HACKATHON · 气候与地球科学赛道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24712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2F9FA"/>
                </a:solidFill>
                <a:latin typeface="Noto Sans CJK SC"/>
              </a:rPr>
              <a:t>全球地球化学元素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F2F9FA"/>
                </a:solidFill>
                <a:latin typeface="Noto Sans CJK SC"/>
              </a:rPr>
              <a:t>分布图谱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61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F9FA"/>
                </a:solidFill>
                <a:latin typeface="Noto Sans CJK SC"/>
              </a:rPr>
              <a:t>不是一张地图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0332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69F5E6"/>
                </a:solidFill>
                <a:latin typeface="Noto Sans CJK SC"/>
              </a:rPr>
              <a:t>是一套可执行科研工作流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0740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7B1B9"/>
                </a:solidFill>
                <a:latin typeface="Noto Sans CJK SC"/>
              </a:rPr>
              <a:t>Agent 把公开测定组织为可追溯、可验证、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7B1B9"/>
                </a:solidFill>
                <a:latin typeface="Noto Sans CJK SC"/>
              </a:rPr>
              <a:t>可迭代的研究产物。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486400"/>
            <a:ext cx="1417320" cy="365760"/>
          </a:xfrm>
          <a:prstGeom prst="roundRect">
            <a:avLst/>
          </a:prstGeom>
          <a:solidFill>
            <a:srgbClr val="03141B">
              <a:alpha val="95000"/>
            </a:srgbClr>
          </a:solidFill>
          <a:ln w="127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5568696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F5E6"/>
                </a:solidFill>
                <a:latin typeface="DejaVu Sans Mono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54980"/>
            <a:ext cx="9784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记录级证据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5486400"/>
            <a:ext cx="1965960" cy="365760"/>
          </a:xfrm>
          <a:prstGeom prst="roundRect">
            <a:avLst/>
          </a:prstGeom>
          <a:solidFill>
            <a:srgbClr val="03141B">
              <a:alpha val="95000"/>
            </a:srgbClr>
          </a:solidFill>
          <a:ln w="127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5568696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F5E6"/>
                </a:solidFill>
                <a:latin typeface="DejaVu Sans Mono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6312" y="5554980"/>
            <a:ext cx="1527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确定性科学门禁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5486400"/>
            <a:ext cx="1481328" cy="365760"/>
          </a:xfrm>
          <a:prstGeom prst="roundRect">
            <a:avLst/>
          </a:prstGeom>
          <a:solidFill>
            <a:srgbClr val="03141B">
              <a:alpha val="95000"/>
            </a:srgbClr>
          </a:solidFill>
          <a:ln w="1270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5568696"/>
            <a:ext cx="201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6C344"/>
                </a:solidFill>
                <a:latin typeface="DejaVu Sans Mono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554980"/>
            <a:ext cx="104241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跨平台复用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373368"/>
            <a:ext cx="10835640" cy="0"/>
          </a:xfrm>
          <a:prstGeom prst="line">
            <a:avLst/>
          </a:prstGeom>
          <a:ln w="10160">
            <a:solidFill>
              <a:srgbClr val="27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45566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最终提交：一个完整、可复用的 Skill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6455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MAP / DATABASE / EVIDENCE / ANOMALY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1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527048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054096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81144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35240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62288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89336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560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F5E6"/>
                </a:solidFill>
                <a:latin typeface="DejaVu Sans Mono"/>
              </a:rPr>
              <a:t>01 · SKILL ARCHITECTURE / PORTABILITY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2F9FA"/>
                </a:solidFill>
                <a:latin typeface="Noto Sans CJK SC"/>
              </a:rPr>
              <a:t>Skill 设计：把科研规则做成可执行契约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344168"/>
            <a:ext cx="11018520" cy="621792"/>
          </a:xfrm>
          <a:prstGeom prst="roundRect">
            <a:avLst/>
          </a:prstGeom>
          <a:solidFill>
            <a:srgbClr val="08242E">
              <a:alpha val="95000"/>
            </a:srgbClr>
          </a:solidFill>
          <a:ln w="127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069080" y="1344168"/>
            <a:ext cx="0" cy="621792"/>
          </a:xfrm>
          <a:prstGeom prst="line">
            <a:avLst/>
          </a:prstGeom>
          <a:ln w="1270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1344168"/>
            <a:ext cx="0" cy="621792"/>
          </a:xfrm>
          <a:prstGeom prst="line">
            <a:avLst/>
          </a:prstGeom>
          <a:ln w="1270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9808" y="148132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AGENT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1673352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2F9FA"/>
                </a:solidFill>
                <a:latin typeface="Noto Sans CJK SC"/>
              </a:rPr>
              <a:t>Agent Skills 公共子集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1481328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OPENCODE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1673352"/>
            <a:ext cx="3429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2F9FA"/>
                </a:solidFill>
                <a:latin typeface="Noto Sans CJK SC"/>
              </a:rPr>
              <a:t>隔离评测与 Skill 挂载流程已接入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48132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CODEX · CLI ·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67335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2F9FA"/>
                </a:solidFill>
                <a:latin typeface="Noto Sans CJK SC"/>
              </a:rPr>
              <a:t>普通文件 + 命令接口，不依赖专有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331720"/>
            <a:ext cx="2560320" cy="2157984"/>
          </a:xfrm>
          <a:prstGeom prst="roundRect">
            <a:avLst/>
          </a:prstGeom>
          <a:solidFill>
            <a:srgbClr val="08242E">
              <a:alpha val="96000"/>
            </a:srgbClr>
          </a:solidFill>
          <a:ln w="127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487168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SKILL.md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862072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9FA"/>
                </a:solidFill>
                <a:latin typeface="Noto Sans CJK SC"/>
              </a:rPr>
              <a:t>状态机与决策门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91839"/>
            <a:ext cx="2231136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9 个阶段按序执行；稳定输入/输出、失败状态与人工门禁，禁止 Agent 跳步。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2331720"/>
            <a:ext cx="2560320" cy="2157984"/>
          </a:xfrm>
          <a:prstGeom prst="roundRect">
            <a:avLst/>
          </a:prstGeom>
          <a:solidFill>
            <a:srgbClr val="08242E">
              <a:alpha val="96000"/>
            </a:srgbClr>
          </a:solidFill>
          <a:ln w="1270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2487168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6C344"/>
                </a:solidFill>
                <a:latin typeface="DejaVu Sans Mono"/>
              </a:rPr>
              <a:t>references/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2862072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9FA"/>
                </a:solidFill>
                <a:latin typeface="Noto Sans CJK SC"/>
              </a:rPr>
              <a:t>专业知识契约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291839"/>
            <a:ext cx="2231136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JSON Schema、科学规则、来源准入与平台 crosswalk；复杂知识按需加载。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61888" y="2331720"/>
            <a:ext cx="2560320" cy="2157984"/>
          </a:xfrm>
          <a:prstGeom prst="roundRect">
            <a:avLst/>
          </a:prstGeom>
          <a:solidFill>
            <a:srgbClr val="08242E">
              <a:alpha val="96000"/>
            </a:srgbClr>
          </a:solidFill>
          <a:ln w="1270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79" y="2487168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5C78"/>
                </a:solidFill>
                <a:latin typeface="DejaVu Sans Mono"/>
              </a:rPr>
              <a:t>scripts/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2862072"/>
            <a:ext cx="22311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9FA"/>
                </a:solidFill>
                <a:latin typeface="Noto Sans CJK SC"/>
              </a:rPr>
              <a:t>确定性执行器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9" y="3291839"/>
            <a:ext cx="2231136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单位、坐标、QC、异常与地图均由可测试脚本执行；核心流程零第三方依赖。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59368" y="2331720"/>
            <a:ext cx="2615184" cy="2157984"/>
          </a:xfrm>
          <a:prstGeom prst="roundRect">
            <a:avLst/>
          </a:prstGeom>
          <a:solidFill>
            <a:srgbClr val="08242E">
              <a:alpha val="96000"/>
            </a:srgbClr>
          </a:solidFill>
          <a:ln w="127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24871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fixtures +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86207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F9FA"/>
                </a:solidFill>
                <a:latin typeface="Noto Sans CJK SC"/>
              </a:rPr>
              <a:t>复现与 uplift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3291839"/>
            <a:ext cx="228600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真实来源固定切片、哈希重放、失败注入与 OpenCode 有 / 无 Skill 对照评测。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4992" y="5742432"/>
            <a:ext cx="1078992" cy="310896"/>
          </a:xfrm>
          <a:prstGeom prst="roundRect">
            <a:avLst/>
          </a:prstGeom>
          <a:solidFill>
            <a:srgbClr val="03141B">
              <a:alpha val="100000"/>
            </a:srgbClr>
          </a:solidFill>
          <a:ln w="8890">
            <a:solidFill>
              <a:srgbClr val="1A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5824728"/>
            <a:ext cx="10789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7B1B9"/>
                </a:solidFill>
                <a:latin typeface="DejaVu Sans Mono"/>
              </a:rPr>
              <a:t>EarthChem ECL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53712" y="5742432"/>
            <a:ext cx="960120" cy="310896"/>
          </a:xfrm>
          <a:prstGeom prst="roundRect">
            <a:avLst/>
          </a:prstGeom>
          <a:solidFill>
            <a:srgbClr val="03141B">
              <a:alpha val="100000"/>
            </a:srgbClr>
          </a:solidFill>
          <a:ln w="8890">
            <a:solidFill>
              <a:srgbClr val="1A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5824728"/>
            <a:ext cx="9601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7B1B9"/>
                </a:solidFill>
                <a:latin typeface="DejaVu Sans Mono"/>
              </a:rPr>
              <a:t>USGS AGDB2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14416" y="5742432"/>
            <a:ext cx="566928" cy="310896"/>
          </a:xfrm>
          <a:prstGeom prst="roundRect">
            <a:avLst/>
          </a:prstGeom>
          <a:solidFill>
            <a:srgbClr val="03141B">
              <a:alpha val="100000"/>
            </a:srgbClr>
          </a:solidFill>
          <a:ln w="8890">
            <a:solidFill>
              <a:srgbClr val="1A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14416" y="5824728"/>
            <a:ext cx="5669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7B1B9"/>
                </a:solidFill>
                <a:latin typeface="DejaVu Sans Mono"/>
              </a:rPr>
              <a:t>ODM2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5742432"/>
            <a:ext cx="1216152" cy="310896"/>
          </a:xfrm>
          <a:prstGeom prst="roundRect">
            <a:avLst/>
          </a:prstGeom>
          <a:solidFill>
            <a:srgbClr val="03141B">
              <a:alpha val="100000"/>
            </a:srgbClr>
          </a:solidFill>
          <a:ln w="8890">
            <a:solidFill>
              <a:srgbClr val="1A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5824728"/>
            <a:ext cx="12161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7B1B9"/>
                </a:solidFill>
                <a:latin typeface="DejaVu Sans Mono"/>
              </a:rPr>
              <a:t>IGSN / DataCite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26096" y="5742432"/>
            <a:ext cx="1920240" cy="310896"/>
          </a:xfrm>
          <a:prstGeom prst="roundRect">
            <a:avLst/>
          </a:prstGeom>
          <a:solidFill>
            <a:srgbClr val="03141B">
              <a:alpha val="100000"/>
            </a:srgbClr>
          </a:solidFill>
          <a:ln w="8890">
            <a:solidFill>
              <a:srgbClr val="1A5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6096" y="5824728"/>
            <a:ext cx="19202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7B1B9"/>
                </a:solidFill>
                <a:latin typeface="DejaVu Sans Mono"/>
              </a:rPr>
              <a:t>字段 crosswalk · 非平台认证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6373368"/>
            <a:ext cx="10835640" cy="0"/>
          </a:xfrm>
          <a:prstGeom prst="line">
            <a:avLst/>
          </a:prstGeom>
          <a:ln w="10160">
            <a:solidFill>
              <a:srgbClr val="27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2920" y="645566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高自由度：意图与路由 · 低自由度：单位 / Schema / QC / hash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6455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PUBLIC SUBSET · DETERMINISTIC 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obal-overview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1B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3141B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03141B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F5E6"/>
                </a:solidFill>
                <a:latin typeface="DejaVu Sans Mono"/>
              </a:rPr>
              <a:t>02 · RECORD-LEVEL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264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2F9FA"/>
                </a:solidFill>
                <a:latin typeface="Noto Sans CJK SC"/>
              </a:rPr>
              <a:t>点一条记录，追到原始源行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261872"/>
            <a:ext cx="612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F5E6"/>
                </a:solidFill>
                <a:latin typeface="DejaVu Sans Mono"/>
              </a:rPr>
              <a:t>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6568" y="1261872"/>
            <a:ext cx="612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4936" y="1261872"/>
            <a:ext cx="612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3304" y="1261872"/>
            <a:ext cx="612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QC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1261872"/>
            <a:ext cx="6126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05072"/>
            <a:ext cx="5166360" cy="1965960"/>
          </a:xfrm>
          <a:prstGeom prst="roundRect">
            <a:avLst/>
          </a:prstGeom>
          <a:solidFill>
            <a:srgbClr val="08242E">
              <a:alpha val="97000"/>
            </a:srgbClr>
          </a:solidFill>
          <a:ln w="127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242816"/>
            <a:ext cx="4389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ONE RECORD · SIX EVIDENCE 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" y="4572000"/>
            <a:ext cx="1417320" cy="457200"/>
          </a:xfrm>
          <a:prstGeom prst="roundRect">
            <a:avLst/>
          </a:prstGeom>
          <a:solidFill>
            <a:srgbClr val="03141B">
              <a:alpha val="90000"/>
            </a:srgbClr>
          </a:solidFill>
          <a:ln w="8255">
            <a:solidFill>
              <a:srgbClr val="1C5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45152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F9FA"/>
                </a:solidFill>
                <a:latin typeface="DejaVu Sans Mono"/>
              </a:rPr>
              <a:t>地图点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28032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7B1B9"/>
                </a:solidFill>
                <a:latin typeface="Noto Sans CJK SC"/>
              </a:rPr>
              <a:t>点击进入证据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4709160"/>
            <a:ext cx="155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68296" y="4572000"/>
            <a:ext cx="1417320" cy="457200"/>
          </a:xfrm>
          <a:prstGeom prst="roundRect">
            <a:avLst/>
          </a:prstGeom>
          <a:solidFill>
            <a:srgbClr val="03141B">
              <a:alpha val="90000"/>
            </a:srgbClr>
          </a:solidFill>
          <a:ln w="8255">
            <a:solidFill>
              <a:srgbClr val="1C5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1448" y="4645152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F9FA"/>
                </a:solidFill>
                <a:latin typeface="DejaVu Sans Mono"/>
              </a:rPr>
              <a:t>record_id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4828032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7B1B9"/>
                </a:solidFill>
                <a:latin typeface="Noto Sans CJK SC"/>
              </a:rPr>
              <a:t>canonical 主键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5615" y="4709160"/>
            <a:ext cx="155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41063" y="4572000"/>
            <a:ext cx="1417320" cy="457200"/>
          </a:xfrm>
          <a:prstGeom prst="roundRect">
            <a:avLst/>
          </a:prstGeom>
          <a:solidFill>
            <a:srgbClr val="03141B">
              <a:alpha val="90000"/>
            </a:srgbClr>
          </a:solidFill>
          <a:ln w="8255">
            <a:solidFill>
              <a:srgbClr val="1C5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14215" y="4645152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F9FA"/>
                </a:solidFill>
                <a:latin typeface="DejaVu Sans Mono"/>
              </a:rPr>
              <a:t>原始测定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4215" y="4828032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7B1B9"/>
                </a:solidFill>
                <a:latin typeface="Noto Sans CJK SC"/>
              </a:rPr>
              <a:t>value / unit / qualifier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" y="5138928"/>
            <a:ext cx="1417320" cy="457200"/>
          </a:xfrm>
          <a:prstGeom prst="roundRect">
            <a:avLst/>
          </a:prstGeom>
          <a:solidFill>
            <a:srgbClr val="03141B">
              <a:alpha val="90000"/>
            </a:srgbClr>
          </a:solidFill>
          <a:ln w="8255">
            <a:solidFill>
              <a:srgbClr val="1C5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1208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F9FA"/>
                </a:solidFill>
                <a:latin typeface="DejaVu Sans Mono"/>
              </a:rPr>
              <a:t>source_record_id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94960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7B1B9"/>
                </a:solidFill>
                <a:latin typeface="Noto Sans CJK SC"/>
              </a:rPr>
              <a:t>来源原生身份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5276088"/>
            <a:ext cx="155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68296" y="5138928"/>
            <a:ext cx="1417320" cy="457200"/>
          </a:xfrm>
          <a:prstGeom prst="roundRect">
            <a:avLst/>
          </a:prstGeom>
          <a:solidFill>
            <a:srgbClr val="03141B">
              <a:alpha val="90000"/>
            </a:srgbClr>
          </a:solidFill>
          <a:ln w="8255">
            <a:solidFill>
              <a:srgbClr val="1C5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1448" y="521208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F9FA"/>
                </a:solidFill>
                <a:latin typeface="DejaVu Sans Mono"/>
              </a:rPr>
              <a:t>source_locator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41448" y="5394960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7B1B9"/>
                </a:solidFill>
                <a:latin typeface="Noto Sans CJK SC"/>
              </a:rPr>
              <a:t>DOI / URL + 表/行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85615" y="5276088"/>
            <a:ext cx="155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9F5E6"/>
                </a:solidFill>
                <a:latin typeface="DejaVu Sans Mono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41063" y="5138928"/>
            <a:ext cx="1417320" cy="457200"/>
          </a:xfrm>
          <a:prstGeom prst="roundRect">
            <a:avLst/>
          </a:prstGeom>
          <a:solidFill>
            <a:srgbClr val="03141B">
              <a:alpha val="90000"/>
            </a:srgbClr>
          </a:solidFill>
          <a:ln w="8255">
            <a:solidFill>
              <a:srgbClr val="1C5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4215" y="521208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2F9FA"/>
                </a:solidFill>
                <a:latin typeface="DejaVu Sans Mono"/>
              </a:rPr>
              <a:t>SHA-256 manifest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14215" y="5394960"/>
            <a:ext cx="12801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97B1B9"/>
                </a:solidFill>
                <a:latin typeface="Noto Sans CJK SC"/>
              </a:rPr>
              <a:t>文件与运行哈希链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687568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6C344"/>
                </a:solidFill>
                <a:latin typeface="Noto Sans CJK SC"/>
              </a:rPr>
              <a:t>原始值永不覆盖：</a:t>
            </a:r>
            <a:r>
              <a:rPr sz="950" b="0">
                <a:solidFill>
                  <a:srgbClr val="97B1B9"/>
                </a:solidFill>
                <a:latin typeface="Noto Sans CJK SC"/>
              </a:rPr>
              <a:t>canonical 值、转换因子、公式与 QC 另列保存。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0176" y="4617720"/>
            <a:ext cx="5605272" cy="1353312"/>
          </a:xfrm>
          <a:prstGeom prst="roundRect">
            <a:avLst/>
          </a:prstGeom>
          <a:solidFill>
            <a:srgbClr val="03141B">
              <a:alpha val="94000"/>
            </a:srgbClr>
          </a:solidFill>
          <a:ln w="1270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4892040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geochemistry.csv 与 record_evidence.jsonl 逐记录绑定；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acquisition manifest 再绑定输入、sidecar 与输出哈希。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5431536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追溯性证明链路一致，不自动证明测量真实、方法可比或异常成因。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373368"/>
            <a:ext cx="10835640" cy="0"/>
          </a:xfrm>
          <a:prstGeom prst="line">
            <a:avLst/>
          </a:prstGeom>
          <a:ln w="10160">
            <a:solidFill>
              <a:srgbClr val="27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45566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MAP POINT → CANONICAL ROW → SOURCE ROW → MANIFEST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6455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每个关键结论绑定来源定位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ina-anomaly-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1B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3141B">
              <a:alpha val="9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03141B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C344"/>
                </a:solidFill>
                <a:latin typeface="DejaVu Sans Mono"/>
              </a:rPr>
              <a:t>03 · PROFILE-DRIVEN RESEARCH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1264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2F9FA"/>
                </a:solidFill>
                <a:latin typeface="Noto Sans CJK SC"/>
              </a:rPr>
              <a:t>Profile 驱动，而不是手工修改网页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86784"/>
            <a:ext cx="5166360" cy="1965960"/>
          </a:xfrm>
          <a:prstGeom prst="roundRect">
            <a:avLst/>
          </a:prstGeom>
          <a:solidFill>
            <a:srgbClr val="08242E">
              <a:alpha val="97000"/>
            </a:srgbClr>
          </a:solidFill>
          <a:ln w="1270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24281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C344"/>
                </a:solidFill>
                <a:latin typeface="DejaVu Sans Mono"/>
              </a:rPr>
              <a:t>visualization_profile.json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608576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6C344"/>
                </a:solidFill>
                <a:latin typeface="DejaVu Sans Mono"/>
              </a:rPr>
              <a:t>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608576"/>
            <a:ext cx="3429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2F9FA"/>
                </a:solidFill>
                <a:latin typeface="Noto Sans CJK SC"/>
              </a:rPr>
              <a:t>用户要回答的科学问题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873752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6C344"/>
                </a:solidFill>
                <a:latin typeface="DejaVu Sans Mono"/>
              </a:rPr>
              <a:t>spatial_scope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873752"/>
            <a:ext cx="3429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2F9FA"/>
                </a:solidFill>
                <a:latin typeface="Noto Sans CJK SC"/>
              </a:rPr>
              <a:t>global / regional + 固定边界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138928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6C344"/>
                </a:solidFill>
                <a:latin typeface="DejaVu Sans Mono"/>
              </a:rPr>
              <a:t>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38928"/>
            <a:ext cx="3429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2F9FA"/>
                </a:solidFill>
                <a:latin typeface="Noto Sans CJK SC"/>
              </a:rPr>
              <a:t>元素、介质、样品类型、地质、方法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404104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6C344"/>
                </a:solidFill>
                <a:latin typeface="DejaVu Sans Mono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404104"/>
            <a:ext cx="3429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2F9FA"/>
                </a:solidFill>
                <a:latin typeface="Noto Sans CJK SC"/>
              </a:rPr>
              <a:t>同一样品可比层内元素组合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669280"/>
            <a:ext cx="10789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6C344"/>
                </a:solidFill>
                <a:latin typeface="DejaVu Sans Mono"/>
              </a:rPr>
              <a:t>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669280"/>
            <a:ext cx="3429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2F9FA"/>
                </a:solidFill>
                <a:latin typeface="Noto Sans CJK SC"/>
              </a:rPr>
              <a:t>分布、密度、异常候选显示策略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55664" y="2240280"/>
            <a:ext cx="1426464" cy="320040"/>
          </a:xfrm>
          <a:prstGeom prst="roundRect">
            <a:avLst/>
          </a:prstGeom>
          <a:solidFill>
            <a:srgbClr val="03141B">
              <a:alpha val="94000"/>
            </a:srgbClr>
          </a:solidFill>
          <a:ln w="8255">
            <a:solidFill>
              <a:srgbClr val="745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327148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9FA"/>
                </a:solidFill>
                <a:latin typeface="DejaVu Sans Mono"/>
              </a:rPr>
              <a:t>overview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8431" y="2240280"/>
            <a:ext cx="1426464" cy="320040"/>
          </a:xfrm>
          <a:prstGeom prst="roundRect">
            <a:avLst/>
          </a:prstGeom>
          <a:solidFill>
            <a:srgbClr val="03141B">
              <a:alpha val="94000"/>
            </a:srgbClr>
          </a:solidFill>
          <a:ln w="8255">
            <a:solidFill>
              <a:srgbClr val="745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327148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9FA"/>
                </a:solidFill>
                <a:latin typeface="DejaVu Sans Mono"/>
              </a:rPr>
              <a:t>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240280"/>
            <a:ext cx="1426464" cy="320040"/>
          </a:xfrm>
          <a:prstGeom prst="roundRect">
            <a:avLst/>
          </a:prstGeom>
          <a:solidFill>
            <a:srgbClr val="03141B">
              <a:alpha val="94000"/>
            </a:srgbClr>
          </a:solidFill>
          <a:ln w="8255">
            <a:solidFill>
              <a:srgbClr val="745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327148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9FA"/>
                </a:solidFill>
                <a:latin typeface="DejaVu Sans Mono"/>
              </a:rPr>
              <a:t>anomaly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2670048"/>
            <a:ext cx="1426464" cy="320040"/>
          </a:xfrm>
          <a:prstGeom prst="roundRect">
            <a:avLst/>
          </a:prstGeom>
          <a:solidFill>
            <a:srgbClr val="03141B">
              <a:alpha val="94000"/>
            </a:srgbClr>
          </a:solidFill>
          <a:ln w="8255">
            <a:solidFill>
              <a:srgbClr val="745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756916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9FA"/>
                </a:solidFill>
                <a:latin typeface="DejaVu Sans Mono"/>
              </a:rPr>
              <a:t>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2670048"/>
            <a:ext cx="1426464" cy="320040"/>
          </a:xfrm>
          <a:prstGeom prst="roundRect">
            <a:avLst/>
          </a:prstGeom>
          <a:solidFill>
            <a:srgbClr val="03141B">
              <a:alpha val="94000"/>
            </a:srgbClr>
          </a:solidFill>
          <a:ln w="8255">
            <a:solidFill>
              <a:srgbClr val="745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2756916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9FA"/>
                </a:solidFill>
                <a:latin typeface="DejaVu Sans Mono"/>
              </a:rPr>
              <a:t>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670048"/>
            <a:ext cx="1426464" cy="320040"/>
          </a:xfrm>
          <a:prstGeom prst="roundRect">
            <a:avLst/>
          </a:prstGeom>
          <a:solidFill>
            <a:srgbClr val="03141B">
              <a:alpha val="94000"/>
            </a:srgbClr>
          </a:solidFill>
          <a:ln w="8255">
            <a:solidFill>
              <a:srgbClr val="745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756916"/>
            <a:ext cx="14264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9FA"/>
                </a:solidFill>
                <a:latin typeface="DejaVu Sans Mono"/>
              </a:rPr>
              <a:t>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0176" y="4617720"/>
            <a:ext cx="5605272" cy="1353312"/>
          </a:xfrm>
          <a:prstGeom prst="roundRect">
            <a:avLst/>
          </a:prstGeom>
          <a:solidFill>
            <a:srgbClr val="03141B">
              <a:alpha val="94000"/>
            </a:srgbClr>
          </a:solidFill>
          <a:ln w="1270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864608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用户问题 → profile → 确定性渲染 → 独立验证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5239512"/>
            <a:ext cx="5074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输入 hash、profile hash 与输出 hash 共同锁定结果。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7B1B9"/>
                </a:solidFill>
                <a:latin typeface="Noto Sans CJK SC"/>
              </a:rPr>
              <a:t>D3 只消费 D1/D2 结论，不重算单位、QC、置信度或异常方向。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373368"/>
            <a:ext cx="10835640" cy="0"/>
          </a:xfrm>
          <a:prstGeom prst="line">
            <a:avLst/>
          </a:prstGeom>
          <a:ln w="10160">
            <a:solidFill>
              <a:srgbClr val="27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45566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探索状态导出 profile 后才成为可复现研究产物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6455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GLOBAL / REGIONAL · ELEMENT / GEOLOGY / SAMPLE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1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527048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054096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81144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35240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62288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89336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35270" y="2468880"/>
            <a:ext cx="1920240" cy="192024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0910" y="1874519"/>
            <a:ext cx="3108960" cy="310896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00830" y="1234440"/>
            <a:ext cx="4389120" cy="438912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60750" y="594359"/>
            <a:ext cx="5669280" cy="566928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60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F5E6"/>
                </a:solidFill>
                <a:latin typeface="DejaVu Sans Mono"/>
              </a:rPr>
              <a:t>05 · AUDITABLE ITERATION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2F9FA"/>
                </a:solidFill>
                <a:latin typeface="Noto Sans CJK SC"/>
              </a:rPr>
              <a:t>可审计 loop：修复证据，不修改历史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084831"/>
            <a:ext cx="2139696" cy="1133856"/>
          </a:xfrm>
          <a:prstGeom prst="roundRect">
            <a:avLst/>
          </a:prstGeom>
          <a:solidFill>
            <a:srgbClr val="03141B">
              <a:alpha val="97000"/>
            </a:srgbClr>
          </a:solidFill>
          <a:ln w="1397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249424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615184"/>
            <a:ext cx="1956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验证十五项产物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944368"/>
            <a:ext cx="19568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7B1B9"/>
                </a:solidFill>
                <a:latin typeface="DejaVu Sans Mono"/>
              </a:rPr>
              <a:t>Schema · hash · 科学边界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C344"/>
                </a:solidFill>
                <a:latin typeface="DejaVu Sans Mono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2084831"/>
            <a:ext cx="2139696" cy="1133856"/>
          </a:xfrm>
          <a:prstGeom prst="roundRect">
            <a:avLst/>
          </a:prstGeom>
          <a:solidFill>
            <a:srgbClr val="03141B">
              <a:alpha val="97000"/>
            </a:srgbClr>
          </a:solidFill>
          <a:ln w="1397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2249424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6C344"/>
                </a:solidFill>
                <a:latin typeface="DejaVu Sans Mono"/>
              </a:rPr>
              <a:t>BACKLOG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615184"/>
            <a:ext cx="1956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生成迭代清单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0168" y="2944368"/>
            <a:ext cx="19568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7B1B9"/>
                </a:solidFill>
                <a:latin typeface="DejaVu Sans Mono"/>
              </a:rPr>
              <a:t>item_id · owner · issue_code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C344"/>
                </a:solidFill>
                <a:latin typeface="DejaVu Sans Mono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2084831"/>
            <a:ext cx="2139696" cy="1133856"/>
          </a:xfrm>
          <a:prstGeom prst="roundRect">
            <a:avLst/>
          </a:prstGeom>
          <a:solidFill>
            <a:srgbClr val="03141B">
              <a:alpha val="97000"/>
            </a:srgbClr>
          </a:solidFill>
          <a:ln w="1397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249424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5C78"/>
                </a:solidFill>
                <a:latin typeface="DejaVu Sans Mono"/>
              </a:rPr>
              <a:t>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2615184"/>
            <a:ext cx="1956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路由 D1 / D2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2944368"/>
            <a:ext cx="19568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7B1B9"/>
                </a:solidFill>
                <a:latin typeface="DejaVu Sans Mono"/>
              </a:rPr>
              <a:t>补来源证据或确定性规则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2496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6C344"/>
                </a:solidFill>
                <a:latin typeface="DejaVu Sans Mono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2328" y="2084831"/>
            <a:ext cx="2139696" cy="1133856"/>
          </a:xfrm>
          <a:prstGeom prst="roundRect">
            <a:avLst/>
          </a:prstGeom>
          <a:solidFill>
            <a:srgbClr val="03141B">
              <a:alpha val="97000"/>
            </a:srgbClr>
          </a:solidFill>
          <a:ln w="1397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2328" y="2249424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RERUN + DIFF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3767" y="2615184"/>
            <a:ext cx="19568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9FA"/>
                </a:solidFill>
                <a:latin typeface="Noto Sans CJK SC"/>
              </a:rPr>
              <a:t>重新运行并比较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7" y="2944368"/>
            <a:ext cx="195681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7B1B9"/>
                </a:solidFill>
                <a:latin typeface="DejaVu Sans Mono"/>
              </a:rPr>
              <a:t>问题不下降则停止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552176" y="3456432"/>
            <a:ext cx="0" cy="365759"/>
          </a:xfrm>
          <a:prstGeom prst="line">
            <a:avLst/>
          </a:prstGeom>
          <a:ln w="10160">
            <a:solidFill>
              <a:srgbClr val="2D8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627632" y="3822191"/>
            <a:ext cx="8924544" cy="0"/>
          </a:xfrm>
          <a:prstGeom prst="line">
            <a:avLst/>
          </a:prstGeom>
          <a:ln w="10160">
            <a:solidFill>
              <a:srgbClr val="2D8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27632" y="3456432"/>
            <a:ext cx="0" cy="365759"/>
          </a:xfrm>
          <a:prstGeom prst="line">
            <a:avLst/>
          </a:prstGeom>
          <a:ln w="10160">
            <a:solidFill>
              <a:srgbClr val="2D86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873752" y="3675887"/>
            <a:ext cx="2468880" cy="274320"/>
          </a:xfrm>
          <a:prstGeom prst="rect">
            <a:avLst/>
          </a:prstGeom>
          <a:solidFill>
            <a:srgbClr val="03141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73752" y="3749039"/>
            <a:ext cx="24688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9F5E6"/>
                </a:solidFill>
                <a:latin typeface="DejaVu Sans Mono"/>
              </a:rPr>
              <a:t>重新运行并比较 · 最多 2 轮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4626864"/>
            <a:ext cx="3383280" cy="0"/>
          </a:xfrm>
          <a:prstGeom prst="line">
            <a:avLst/>
          </a:prstGeom>
          <a:ln w="17780">
            <a:solidFill>
              <a:srgbClr val="69F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478231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F5E6"/>
                </a:solidFill>
                <a:latin typeface="DejaVu Sans Mono"/>
              </a:rPr>
              <a:t>action_required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10235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7B1B9"/>
                </a:solidFill>
                <a:latin typeface="Noto Sans CJK SC"/>
              </a:rPr>
              <a:t>来源证据、字段映射或确定性处理可修复；分组后自动路由。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343400" y="4626864"/>
            <a:ext cx="3383279" cy="0"/>
          </a:xfrm>
          <a:prstGeom prst="line">
            <a:avLst/>
          </a:prstGeom>
          <a:ln w="17780">
            <a:solidFill>
              <a:srgbClr val="F6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343400" y="478231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6C344"/>
                </a:solidFill>
                <a:latin typeface="DejaVu Sans Mono"/>
              </a:rPr>
              <a:t>review_required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10235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7B1B9"/>
                </a:solidFill>
                <a:latin typeface="Noto Sans CJK SC"/>
              </a:rPr>
              <a:t>CRS、方法语义或映射需要专家判断；暂停自动修改。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119871" y="4626864"/>
            <a:ext cx="3383280" cy="0"/>
          </a:xfrm>
          <a:prstGeom prst="line">
            <a:avLst/>
          </a:prstGeom>
          <a:ln w="17780">
            <a:solidFill>
              <a:srgbClr val="FF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119871" y="4782312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5C78"/>
                </a:solidFill>
                <a:latin typeface="DejaVu Sans Mono"/>
              </a:rPr>
              <a:t>scientific_limit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9871" y="5102352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7B1B9"/>
                </a:solidFill>
                <a:latin typeface="Noto Sans CJK SC"/>
              </a:rPr>
              <a:t>删失或背景不足是真实科学限制，不得通过猜值“修复”。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02920" y="6373368"/>
            <a:ext cx="10835640" cy="0"/>
          </a:xfrm>
          <a:prstGeom prst="line">
            <a:avLst/>
          </a:prstGeom>
          <a:ln w="10160">
            <a:solidFill>
              <a:srgbClr val="276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6455664"/>
            <a:ext cx="6583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canonical 数据与原始证据不可变 · 修复生成新运行，不覆盖历史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645566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重复阻塞 → needs_human_review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1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527048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054096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81144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35240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62288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89336" y="0"/>
            <a:ext cx="0" cy="685800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6985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35270" y="2468880"/>
            <a:ext cx="1920240" cy="192024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0910" y="1874519"/>
            <a:ext cx="3108960" cy="310896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00830" y="1234440"/>
            <a:ext cx="4389120" cy="438912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60750" y="594359"/>
            <a:ext cx="5669280" cy="5669280"/>
          </a:xfrm>
          <a:prstGeom prst="ellipse">
            <a:avLst/>
          </a:prstGeom>
          <a:noFill/>
          <a:ln w="8255">
            <a:solidFill>
              <a:srgbClr val="19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603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F5E6"/>
                </a:solidFill>
                <a:latin typeface="DejaVu Sans Mono"/>
              </a:rPr>
              <a:t>06 · REQUIRED OUTPUTS / FINAL 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2F9FA"/>
                </a:solidFill>
                <a:latin typeface="Noto Sans CJK SC"/>
              </a:rPr>
              <a:t>一个 Skill，统一交付赛题五项输出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6632" y="2240280"/>
            <a:ext cx="2057400" cy="2057400"/>
          </a:xfrm>
          <a:prstGeom prst="roundRect">
            <a:avLst/>
          </a:prstGeom>
          <a:solidFill>
            <a:srgbClr val="03141B">
              <a:alpha val="100000"/>
            </a:srgbClr>
          </a:solidFill>
          <a:ln w="2540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05456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9F5E6"/>
                </a:solidFill>
                <a:latin typeface="DejaVu Sans Mono"/>
              </a:rPr>
              <a:t>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3072384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2F9FA"/>
                </a:solidFill>
                <a:latin typeface="DejaVu Sans Mon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358444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7B1B9"/>
                </a:solidFill>
                <a:latin typeface="DejaVu Sans Mono"/>
              </a:rPr>
              <a:t>REUSABLE SKILL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" y="1828800"/>
            <a:ext cx="621792" cy="621792"/>
          </a:xfrm>
          <a:prstGeom prst="ellipse">
            <a:avLst/>
          </a:prstGeom>
          <a:solidFill>
            <a:srgbClr val="03141B"/>
          </a:solidFill>
          <a:ln w="1524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2029968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6231" y="193852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可交互元素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分布地图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389888" y="2139696"/>
            <a:ext cx="4690872" cy="1133856"/>
          </a:xfrm>
          <a:prstGeom prst="line">
            <a:avLst/>
          </a:prstGeom>
          <a:ln w="10160">
            <a:solidFill>
              <a:srgbClr val="216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458200" y="1554480"/>
            <a:ext cx="621792" cy="621792"/>
          </a:xfrm>
          <a:prstGeom prst="ellipse">
            <a:avLst/>
          </a:prstGeom>
          <a:solidFill>
            <a:srgbClr val="03141B"/>
          </a:solidFill>
          <a:ln w="1524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1755648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664207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标准化地球化学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数据库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080760" y="1865376"/>
            <a:ext cx="2688336" cy="1408176"/>
          </a:xfrm>
          <a:prstGeom prst="line">
            <a:avLst/>
          </a:prstGeom>
          <a:ln w="10160">
            <a:solidFill>
              <a:srgbClr val="216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23960" y="3931920"/>
            <a:ext cx="621792" cy="621792"/>
          </a:xfrm>
          <a:prstGeom prst="ellipse">
            <a:avLst/>
          </a:prstGeom>
          <a:solidFill>
            <a:srgbClr val="03141B"/>
          </a:solidFill>
          <a:ln w="1524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4133087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6C344"/>
                </a:solidFill>
                <a:latin typeface="DejaVu Sans Mono"/>
              </a:rPr>
              <a:t>QC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04164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数据来源与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置信度说明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0760" y="3273552"/>
            <a:ext cx="3054096" cy="969264"/>
          </a:xfrm>
          <a:prstGeom prst="line">
            <a:avLst/>
          </a:prstGeom>
          <a:ln w="10160">
            <a:solidFill>
              <a:srgbClr val="216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355080" y="4709160"/>
            <a:ext cx="621792" cy="621792"/>
          </a:xfrm>
          <a:prstGeom prst="ellipse">
            <a:avLst/>
          </a:prstGeom>
          <a:solidFill>
            <a:srgbClr val="03141B"/>
          </a:solidFill>
          <a:ln w="15240">
            <a:solidFill>
              <a:srgbClr val="FF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910328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5C78"/>
                </a:solidFill>
                <a:latin typeface="DejaVu Sans Mono"/>
              </a:rPr>
              <a:t>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188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异常区域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识别结果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80760" y="3273552"/>
            <a:ext cx="585216" cy="1746504"/>
          </a:xfrm>
          <a:prstGeom prst="line">
            <a:avLst/>
          </a:prstGeom>
          <a:ln w="10160">
            <a:solidFill>
              <a:srgbClr val="216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298448" y="4343400"/>
            <a:ext cx="621792" cy="621792"/>
          </a:xfrm>
          <a:prstGeom prst="ellipse">
            <a:avLst/>
          </a:prstGeom>
          <a:solidFill>
            <a:srgbClr val="03141B"/>
          </a:solidFill>
          <a:ln w="1524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98448" y="4544568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9F5E6"/>
                </a:solidFill>
                <a:latin typeface="DejaVu Sans Mono"/>
              </a:rPr>
              <a:t>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445312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可复用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F9FA"/>
                </a:solidFill>
                <a:latin typeface="Noto Sans CJK SC"/>
              </a:rPr>
              <a:t>Skill 文档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609344" y="3273552"/>
            <a:ext cx="4471416" cy="1380744"/>
          </a:xfrm>
          <a:prstGeom prst="line">
            <a:avLst/>
          </a:prstGeom>
          <a:ln w="10160">
            <a:solidFill>
              <a:srgbClr val="216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56231" y="5650992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7B1B9"/>
                </a:solidFill>
                <a:latin typeface="DejaVu Sans Mono"/>
              </a:rPr>
              <a:t>记录级证据链 · 可复现 profile · 十五项产物验证 · 可审计 iteration loop · 跨平台公共接口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6016752"/>
            <a:ext cx="8321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2F9FA"/>
                </a:solidFill>
                <a:latin typeface="Noto Sans CJK SC"/>
              </a:rPr>
              <a:t>最终交付物：一个完整、可复用的 Skill 文档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41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527048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054096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81144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35240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62288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89336" y="0"/>
            <a:ext cx="0" cy="685800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143000"/>
            <a:ext cx="12191695" cy="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15000"/>
            <a:ext cx="12191695" cy="0"/>
          </a:xfrm>
          <a:prstGeom prst="line">
            <a:avLst/>
          </a:prstGeom>
          <a:ln w="8890">
            <a:solidFill>
              <a:srgbClr val="193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560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9F5E6"/>
                </a:solidFill>
                <a:latin typeface="DejaVu Sans Mono"/>
              </a:rPr>
              <a:t>04 · FINAL PRODUCT IN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2648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2F9FA"/>
                </a:solidFill>
                <a:latin typeface="Noto Sans CJK SC"/>
              </a:rPr>
              <a:t>最终效果：全球图谱与区域研究视图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5458968" cy="3072384"/>
          </a:xfrm>
          <a:prstGeom prst="rect">
            <a:avLst/>
          </a:prstGeom>
          <a:ln w="15240">
            <a:solidFill>
              <a:srgbClr val="69F5E6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66928" y="3456432"/>
            <a:ext cx="5458968" cy="1188720"/>
          </a:xfrm>
          <a:prstGeom prst="rect">
            <a:avLst/>
          </a:prstGeom>
          <a:solidFill>
            <a:srgbClr val="03141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1719072"/>
            <a:ext cx="1417320" cy="310896"/>
          </a:xfrm>
          <a:prstGeom prst="roundRect">
            <a:avLst/>
          </a:prstGeom>
          <a:solidFill>
            <a:srgbClr val="03141B">
              <a:alpha val="94000"/>
            </a:srgbClr>
          </a:solidFill>
          <a:ln w="10160">
            <a:solidFill>
              <a:srgbClr val="69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1810512"/>
            <a:ext cx="1417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9F5E6"/>
                </a:solidFill>
                <a:latin typeface="DejaVu Sans Mono"/>
              </a:rPr>
              <a:t>GLOBAL ATLAS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712463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2F9FA"/>
                </a:solidFill>
                <a:latin typeface="Noto Sans CJK SC"/>
              </a:rPr>
              <a:t>全球元素分布图谱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2245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7B1B9"/>
                </a:solidFill>
                <a:latin typeface="Noto Sans CJK SC"/>
              </a:rPr>
              <a:t>元素 / 介质筛选  ·  采样密度热力图  ·  记录级证据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181051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9FA"/>
                </a:solidFill>
                <a:latin typeface="DejaVu Sans Mono"/>
              </a:rPr>
              <a:t>真实离线交互产品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572768"/>
            <a:ext cx="5458968" cy="3072384"/>
          </a:xfrm>
          <a:prstGeom prst="rect">
            <a:avLst/>
          </a:prstGeom>
          <a:ln w="15240">
            <a:solidFill>
              <a:srgbClr val="F6C344"/>
            </a:solidFill>
          </a:ln>
        </p:spPr>
      </p:pic>
      <p:sp>
        <p:nvSpPr>
          <p:cNvPr id="25" name="Rectangle 24"/>
          <p:cNvSpPr/>
          <p:nvPr/>
        </p:nvSpPr>
        <p:spPr>
          <a:xfrm>
            <a:off x="6163056" y="3456432"/>
            <a:ext cx="5458968" cy="1188720"/>
          </a:xfrm>
          <a:prstGeom prst="rect">
            <a:avLst/>
          </a:prstGeom>
          <a:solidFill>
            <a:srgbClr val="03141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719072"/>
            <a:ext cx="1417320" cy="310896"/>
          </a:xfrm>
          <a:prstGeom prst="roundRect">
            <a:avLst/>
          </a:prstGeom>
          <a:solidFill>
            <a:srgbClr val="03141B">
              <a:alpha val="94000"/>
            </a:srgbClr>
          </a:solidFill>
          <a:ln w="10160">
            <a:solidFill>
              <a:srgbClr val="F6C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810512"/>
            <a:ext cx="14173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6C344"/>
                </a:solidFill>
                <a:latin typeface="DejaVu Sans Mono"/>
              </a:rPr>
              <a:t>REGIONAL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712463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2F9FA"/>
                </a:solidFill>
                <a:latin typeface="Noto Sans CJK SC"/>
              </a:rPr>
              <a:t>区域研究与异常筛查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224528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7B1B9"/>
                </a:solidFill>
                <a:latin typeface="Noto Sans CJK SC"/>
              </a:rPr>
              <a:t>区域图谱  ·  元素组合  ·  异常候选与复核入口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9256" y="1810512"/>
            <a:ext cx="13258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9FA"/>
                </a:solidFill>
                <a:latin typeface="DejaVu Sans Mono"/>
              </a:rPr>
              <a:t>真实离线交互产品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5330952"/>
            <a:ext cx="2578608" cy="0"/>
          </a:xfrm>
          <a:prstGeom prst="line">
            <a:avLst/>
          </a:prstGeom>
          <a:ln w="15875">
            <a:solidFill>
              <a:srgbClr val="69F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5532120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可交互元素分布地图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66160" y="5330952"/>
            <a:ext cx="2578608" cy="0"/>
          </a:xfrm>
          <a:prstGeom prst="line">
            <a:avLst/>
          </a:prstGeom>
          <a:ln w="15875">
            <a:solidFill>
              <a:srgbClr val="69F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66160" y="5532120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标准化地球化学数据库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46520" y="5330952"/>
            <a:ext cx="2578608" cy="0"/>
          </a:xfrm>
          <a:prstGeom prst="line">
            <a:avLst/>
          </a:prstGeom>
          <a:ln w="15875">
            <a:solidFill>
              <a:srgbClr val="F6C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46520" y="5532120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来源与置信度说明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26880" y="5330952"/>
            <a:ext cx="2578608" cy="0"/>
          </a:xfrm>
          <a:prstGeom prst="line">
            <a:avLst/>
          </a:prstGeom>
          <a:ln w="15875">
            <a:solidFill>
              <a:srgbClr val="FF5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26880" y="5532120"/>
            <a:ext cx="2578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F9FA"/>
                </a:solidFill>
                <a:latin typeface="Noto Sans CJK SC"/>
              </a:rPr>
              <a:t>异常区域识别结果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6044184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7B1B9"/>
                </a:solidFill>
                <a:latin typeface="DejaVu Sans Mono"/>
              </a:rPr>
              <a:t>同一 Skill · 同一标准数据库 · 同一证据链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