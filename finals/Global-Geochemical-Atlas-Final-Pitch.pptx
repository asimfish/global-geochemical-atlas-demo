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全球地球化学数据分散在数十个数据库和文献附表中，人工整编往往以月计。我们构建了一个可复用的 Agent Skill：提交研究请求后，它自主完成数据获取、标准化质控、制图与溯源存档。右侧是 8 月 15 日一次真实全球运行生成的图谱：191,715 条测定、29 个正式入库来源。前半场介绍系统设计，后半场讲这次真实运行。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痛点：来源分散、测定值不可直接合并、图谱容易被过度解读。介质、计量单位、报告基准、分析方法、检出限、坐标质量——任何一项不可比，合并就会产生系统性偏差。我们的目标是：一条研究请求进来，产出的不只是图，而是可以核查的完整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工作流分三个阶段。D1 数据获取：完成来源准入，许可、版本与文件哈希全部存档，来源可逐项核查。D2 标准化与质控：统一计量单位与坐标参考系，原始测定值全程保留不被覆盖。D3 成果生成：图谱、标准化数据库与证据报告同步产出，仅质控达标的数据进入成果。来源目录已登记 63 个候选，核心产物固定为 15 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关键设计是职责分离：大模型可能出错，因此只负责理解请求与调度流程；单位换算、坐标转换、质量控制、异常判定等全部科学计算由确定性脚本执行，相同输入产出逐字节一致的结果。同一 Skill 可接入 OpenCode、Codex、命令行或 CI，计算结果完全一致。研究者始终保留最终科学判断。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四条硬约束由确定性执行器强制生效：一，原始测定值、原单位与限定符永久保留，换算另记轨迹；二，低于检出限的删失值不以零或半检出限代入；三，坐标参考系未声明时不默认 WGS84；四，可比样本不足二十时不产出背景统计。总原则是 fail-closed：无法满足科学条件就明确报告缺口与原因。设计部分到此，下面看一次真实运行。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8 月 15 日的真实运行日志，全程自主。系统先对 63 个候选来源完成准入审计，29 个成功入库；9 轮在线采集从 7.2 万条增至 19 万余条，两个持续 HTTP 500 的端点被如实记为失败，而非以缓存替代。第 6 轮新增为零，满足零增量终止条件后自主停止，发布 191,715 条测定；终态为 needs_human_review，238 项缺口进入修复队列待人工复核。如实报告未完成项，正是这套系统的设计目标之一。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这是刚才那次运行的直接产物：一张全球交互图谱，191,715 条测定、42,664 个采样点、7 种元素、3,351 个异常筛查候选。它是自包含的单个 HTML 文件，离线可用；可以筛选元素、切换介质、点开任意采样点。顶部的坐标披露横幅同样是产物的一部分——未经验证的坐标被明确标注，不冒充已验证坐标。空白区域就是数据缺口，如实保留。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图谱上的点不是结论，而是证据入口。点开任意记录：左侧是标准化记录，从原始测定值到标准化值、分析方法与质控标记；右侧是来源信息——文献 DOI、源文件行号、数据许可与 SHA-256 校验值。四级溯源链（原始测定值、标准化轨迹、来源定位、哈希校验）使任何记录都可被独立复核。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看一条真实候选的判定过程。输入是一份土壤样品的砷测定值 23.9 毫克每千克。系统仅在可比分组内比较：同介质、同分析方法、同地质单元的 45 条记录，可比组中位数 2.30，该样品为其 10.4 倍，稳健 Z 分数 3.69，超过 3.5 的筛查阈值。输出的证据链包含分析方法（HG-AAS，与比较组一致）、数据来源（USGS DS 801 第 27 行）与综合置信度 0.79，并标注该记录缺少坐标不确定度声明。系统仅报告高值筛查候选；污染或矿化判断由研究者结合独立验证做出。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运行验收。成果：191,715 条测定实际入库，9 轮在线采集，无重复计数。局限，系统自己报告了：岩石介质为零，因上游来源持续不可用；5 度陆地网格覆盖率 22.3%，距全球代表性尚有差距，未作夸大；238 项缺口进入修复队列并逐项标注原因。15 项核心产物全部通过独立校验，跨环境重跑结果逐字节一致。如实报告局限，是这套系统作为科研基础设施最重要的能力。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让每一条地球化学测定可追溯、可验证、可重新计算。左边二维码体验在线产品，右边检查代码与证据。谢谢各位评委。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备查页：15 项核心产物与赛题交付的对应关系。每一类产物都有固定文件名与校验规则，评委追问任何数字时可以直接打开对应 JSON 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备查页：来源目录按介质分组的代表性数据集。63 个候选来源完成准入审计，其中 29 个在 8 月 15 日的全球运行中正式入库；每个来源的 DOI、许可、版本与文件哈希都记录在来源清单中。EarthChem 等联邦检索站只作为发现层，测量证据必须追溯到原始记录。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备查页：评委常问的四个边界问题。核心口径：离线可用；needs_human_review 是如实报告而非失败；筛查候选不是成因结论；模型不碰科学数值。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bal-run-map-cropped.png"/>
          <p:cNvPicPr>
            <a:picLocks noChangeAspect="1"/>
          </p:cNvPicPr>
          <p:nvPr/>
        </p:nvPicPr>
        <p:blipFill>
          <a:blip r:embed="rId2"/>
          <a:srcRect l="30650" r="30650"/>
          <a:stretch>
            <a:fillRect/>
          </a:stretch>
        </p:blipFill>
        <p:spPr>
          <a:xfrm>
            <a:off x="6446520" y="0"/>
            <a:ext cx="57515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06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8521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35E0C1"/>
                </a:solidFill>
                <a:latin typeface="Aptos Mono"/>
              </a:rPr>
              <a:t>AI4S FUTURE SCIENCESKILLS HACKATHON ·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58521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GLOBAL</a:t>
            </a:r>
            <a:br/>
            <a:r>
              <a:rPr sz="4000" b="1">
                <a:solidFill>
                  <a:srgbClr val="FFFFFF"/>
                </a:solidFill>
                <a:latin typeface="Microsoft YaHei"/>
              </a:rPr>
              <a:t>GEOCHEMICAL</a:t>
            </a:r>
            <a:br/>
            <a:r>
              <a:rPr sz="4000" b="1">
                <a:solidFill>
                  <a:srgbClr val="FFFFFF"/>
                </a:solidFill>
                <a:latin typeface="Microsoft YaHei"/>
              </a:rPr>
              <a:t>ATLAS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5532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D5E6E8"/>
                </a:solidFill>
                <a:latin typeface="Microsoft YaHei"/>
              </a:rPr>
              <a:t>从分散测定到</a:t>
            </a:r>
            <a:r>
              <a:rPr sz="2400" b="1">
                <a:solidFill>
                  <a:srgbClr val="7AE7FF"/>
                </a:solidFill>
                <a:latin typeface="Microsoft YaHei"/>
              </a:rPr>
              <a:t>可审计图谱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0791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D5E6E8"/>
                </a:solidFill>
                <a:latin typeface="Microsoft YaHei"/>
              </a:rPr>
              <a:t>一套可追溯、可验证、如实报告局限的地球化学研究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664208" cy="4389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502920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Microsoft YaHei"/>
              </a:rPr>
              <a:t>191,715 条测定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4892040"/>
            <a:ext cx="1664208" cy="4389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502920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Microsoft YaHei"/>
              </a:rPr>
              <a:t>29 个正式来源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4892040"/>
            <a:ext cx="1664208" cy="4389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502920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F3C969"/>
                </a:solidFill>
                <a:latin typeface="Microsoft YaHei"/>
              </a:rPr>
              <a:t>15 项核心产物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1ABB0"/>
                </a:solidFill>
                <a:latin typeface="Aptos Mono"/>
              </a:rPr>
              <a:t>TEAM 0066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6263640"/>
            <a:ext cx="1874519" cy="338328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6373368"/>
            <a:ext cx="17556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35E0C1"/>
                </a:solidFill>
                <a:latin typeface="Aptos Mono"/>
              </a:rPr>
              <a:t>REAL RUN · 2026-08-15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01 · THE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数据很多，可信工作流很少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456432" cy="19659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5564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6F61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148840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来源分散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97480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数据散落在数据库、文献附表与 DOI 仓库中，字段规范互不一致。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54480"/>
            <a:ext cx="3456432" cy="19659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5564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6F61"/>
                </a:solidFill>
                <a:latin typeface="Apto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48840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测定值不可直接合并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697480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介质、计量单位、报告基准、分析方法、检出限与坐标质量共同决定可比性。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54480"/>
            <a:ext cx="3456432" cy="19659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5564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6F61"/>
                </a:solidFill>
                <a:latin typeface="Apto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40"/>
            <a:ext cx="30358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图谱容易被过度解读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97480"/>
            <a:ext cx="30358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采样空洞、方法差异与背景样本不足，会制造貌似合理的结论。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11045952" cy="13898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1ABB0"/>
                </a:solidFill>
                <a:latin typeface="Aptos Mono"/>
              </a:rPr>
              <a:t>研究请求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33087"/>
            <a:ext cx="3703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35E0C1"/>
                </a:solidFill>
                <a:latin typeface="Microsoft YaHei"/>
              </a:rPr>
              <a:t>Cr（铬）× 中国东部 × 土壤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412394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1239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图谱 + 数据库 + 证据链 + 筛查候选 + 缺口清单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709160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5E6E8"/>
                </a:solidFill>
                <a:latin typeface="Microsoft YaHei"/>
              </a:rPr>
              <a:t>目标：研究者不只拿到结果，还能核查它为何可用、哪里不可用、下一步如何补证。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02 · PART 1 · THREE-STAGE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计划：从请求到成果的三阶段工作流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81912"/>
            <a:ext cx="3474720" cy="257860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196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D1 · 数据获取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1284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来源准入 · 证据固定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3017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官方数据库与 DOI 数据集优先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许可 · 版本 · 查询全部存档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SHA-256 校验值 · 记录定位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2633472"/>
            <a:ext cx="402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81912"/>
            <a:ext cx="3474720" cy="257860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96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D2 · 标准化与质控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按地球化学规范处理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816352"/>
            <a:ext cx="3017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统一计量单位与坐标参考系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删失值如实保留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原始测定值全程不被覆盖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633472"/>
            <a:ext cx="402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81912"/>
            <a:ext cx="3474720" cy="257860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1965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D3 · 成果生成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1284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产物可核查 · 可复用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16352"/>
            <a:ext cx="301752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1ABB0"/>
                </a:solidFill>
                <a:latin typeface="Microsoft YaHei"/>
              </a:rPr>
              <a:t>图谱 · 标准化数据库 · 证据报告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异常筛查候选 · 缺口清单</a:t>
            </a:r>
            <a:br/>
            <a:r>
              <a:rPr sz="1100" b="0">
                <a:solidFill>
                  <a:srgbClr val="91ABB0"/>
                </a:solidFill>
                <a:latin typeface="Microsoft YaHei"/>
              </a:rPr>
              <a:t>仅质控达标的数据进入成果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62272"/>
            <a:ext cx="2487168" cy="86868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572000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35E0C1"/>
                </a:solidFill>
                <a:latin typeface="Aptos Mono"/>
              </a:rPr>
              <a:t>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94690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候选来源完成准入审计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4462272"/>
            <a:ext cx="2487168" cy="86868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572000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35E0C1"/>
                </a:solidFill>
                <a:latin typeface="Aptos Mon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94690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类介质：岩·土·沉积物·水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462272"/>
            <a:ext cx="2487168" cy="86868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572000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94690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项核心产物契约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4462272"/>
            <a:ext cx="2487168" cy="86868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8" y="4572000"/>
            <a:ext cx="2212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4946904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套可复用 Agent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715000"/>
            <a:ext cx="10835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5E6E8"/>
                </a:solidFill>
                <a:latin typeface="Microsoft YaHei"/>
              </a:rPr>
              <a:t>每一阶段都有输入、输出与质量门禁；模型不猜测科学元数据，缺失就如实报告。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03 · PART 1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设计：模型负责编排，计算交给确定性脚本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18488"/>
            <a:ext cx="2468880" cy="24963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35E0C1"/>
                </a:solidFill>
                <a:latin typeface="Aptos Mono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研究请求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1396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1ABB0"/>
                </a:solidFill>
                <a:latin typeface="Microsoft YaHei"/>
              </a:rPr>
              <a:t>元素 · 区域 · 介质</a:t>
            </a:r>
            <a:br/>
            <a:r>
              <a:rPr sz="950" b="0">
                <a:solidFill>
                  <a:srgbClr val="91ABB0"/>
                </a:solidFill>
                <a:latin typeface="Microsoft YaHei"/>
              </a:rPr>
              <a:t>约束与证据要求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58775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18488"/>
            <a:ext cx="2468880" cy="24963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56231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35E0C1"/>
                </a:solidFill>
                <a:latin typeface="Aptos Mono"/>
              </a:rPr>
              <a:t>编排层 ·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5915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理解与调度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54680"/>
            <a:ext cx="21396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1ABB0"/>
                </a:solidFill>
                <a:latin typeface="Microsoft YaHei"/>
              </a:rPr>
              <a:t>OpenCode · Codex</a:t>
            </a:r>
            <a:br/>
            <a:r>
              <a:rPr sz="950" b="0">
                <a:solidFill>
                  <a:srgbClr val="91ABB0"/>
                </a:solidFill>
                <a:latin typeface="Microsoft YaHei"/>
              </a:rPr>
              <a:t>命令行 / CI · 任意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58775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18488"/>
            <a:ext cx="2468880" cy="24963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856231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35E0C1"/>
                </a:solidFill>
                <a:latin typeface="Aptos Mono"/>
              </a:rPr>
              <a:t>计算层 · 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35915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确定性计算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154680"/>
            <a:ext cx="21396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1ABB0"/>
                </a:solidFill>
                <a:latin typeface="Microsoft YaHei"/>
              </a:rPr>
              <a:t>相同输入</a:t>
            </a:r>
            <a:br/>
            <a:r>
              <a:rPr sz="950" b="0">
                <a:solidFill>
                  <a:srgbClr val="91ABB0"/>
                </a:solidFill>
                <a:latin typeface="Microsoft YaHei"/>
              </a:rPr>
              <a:t>产出逐字节一致的结果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58775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7AE7FF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7" y="1618488"/>
            <a:ext cx="2468880" cy="249631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79" y="1856231"/>
            <a:ext cx="21396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35E0C1"/>
                </a:solidFill>
                <a:latin typeface="Aptos Mono"/>
              </a:rPr>
              <a:t>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79" y="2359152"/>
            <a:ext cx="21396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15 项核心产物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3154680"/>
            <a:ext cx="21396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1ABB0"/>
                </a:solidFill>
                <a:latin typeface="Microsoft YaHei"/>
              </a:rPr>
              <a:t>图谱 · 数据库</a:t>
            </a:r>
            <a:br/>
            <a:r>
              <a:rPr sz="950" b="0">
                <a:solidFill>
                  <a:srgbClr val="91ABB0"/>
                </a:solidFill>
                <a:latin typeface="Microsoft YaHei"/>
              </a:rPr>
              <a:t>科研报告 · 后续分析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17136"/>
            <a:ext cx="3474720" cy="768096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3C969"/>
                </a:solidFill>
                <a:latin typeface="Microsoft YaHei"/>
              </a:rPr>
              <a:t>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4745736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D5E6E8"/>
                </a:solidFill>
                <a:latin typeface="Microsoft YaHei"/>
              </a:rPr>
              <a:t>理解请求 · 编排流程 · 解释局限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517136"/>
            <a:ext cx="3474720" cy="768096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75488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5E0C1"/>
                </a:solidFill>
                <a:latin typeface="Microsoft YaHei"/>
              </a:rPr>
              <a:t>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745736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D5E6E8"/>
                </a:solidFill>
                <a:latin typeface="Microsoft YaHei"/>
              </a:rPr>
              <a:t>科学计算 · 校验 · 字节级复现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4517136"/>
            <a:ext cx="3474720" cy="768096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475488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7AE7FF"/>
                </a:solidFill>
                <a:latin typeface="Microsoft YaHei"/>
              </a:rPr>
              <a:t>研究者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4745736"/>
            <a:ext cx="23957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D5E6E8"/>
                </a:solidFill>
                <a:latin typeface="Microsoft YaHei"/>
              </a:rPr>
              <a:t>复核证据 · 补充采样 · 最终判断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职责分离：模型不参与数值计算；单位换算、坐标转换、质控与异常判定全部由确定性脚本执行。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04 · PART 1 · SCIENTIFIC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设计：四条硬约束，由执行器强制生效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487168" cy="306324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801368"/>
            <a:ext cx="621792" cy="4754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56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Aptos Mono"/>
              </a:rP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420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原始值不可变更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27832"/>
            <a:ext cx="2084831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1ABB0"/>
                </a:solidFill>
                <a:latin typeface="Microsoft YaHei"/>
              </a:rPr>
              <a:t>原始测定值、原单位与限定符永久保留；单位换算另行记录换算轨迹。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72768"/>
            <a:ext cx="2487168" cy="306324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57016" y="1801368"/>
            <a:ext cx="621792" cy="4754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1" y="1956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Aptos Mono"/>
              </a:rPr>
              <a:t>&lt;DL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5420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删失值不替换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227832"/>
            <a:ext cx="2084831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1ABB0"/>
                </a:solidFill>
                <a:latin typeface="Microsoft YaHei"/>
              </a:rPr>
              <a:t>低于检出限（&lt;LOD / &lt;LOQ）的删失值如实保留；不以 0 或 LOD/2 代入。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572768"/>
            <a:ext cx="2487168" cy="306324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801368"/>
            <a:ext cx="621792" cy="4754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56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Aptos Mono"/>
              </a:rPr>
              <a:t>CRS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5420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坐标系不假定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227832"/>
            <a:ext cx="2084831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1ABB0"/>
                </a:solidFill>
                <a:latin typeface="Microsoft YaHei"/>
              </a:rPr>
              <a:t>坐标参考系未声明时不默认为 WGS84；所有坐标转换全程留痕。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7" y="1572768"/>
            <a:ext cx="2487168" cy="306324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5" y="1801368"/>
            <a:ext cx="621792" cy="4754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1" y="1956816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Aptos Mono"/>
              </a:rPr>
              <a:t>n≥20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2542032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背景不足不出统计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3227832"/>
            <a:ext cx="2084831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1ABB0"/>
                </a:solidFill>
                <a:latin typeface="Microsoft YaHei"/>
              </a:rPr>
              <a:t>可比样本量不足 20 时返回“背景不足”，不降低阈值强行计算。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65192"/>
            <a:ext cx="11045952" cy="749808"/>
          </a:xfrm>
          <a:prstGeom prst="roundRect">
            <a:avLst/>
          </a:prstGeom>
          <a:solidFill>
            <a:srgbClr val="361B20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221224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6F61"/>
                </a:solidFill>
                <a:latin typeface="Aptos Mono"/>
              </a:rPr>
              <a:t>FAIL-CLOSED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202936"/>
            <a:ext cx="8659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5E6E8"/>
                </a:solidFill>
                <a:latin typeface="Microsoft YaHei"/>
              </a:rPr>
              <a:t>无法满足科学条件时，明确报告缺口与原因——不产出貌似完整的结果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594360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7AE7FF"/>
                </a:solidFill>
                <a:latin typeface="Microsoft YaHei"/>
              </a:rPr>
              <a:t>失败是结构化产物的一部分，而不是被隐藏的异常。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05 · PART 2 · AGENT EXECUTION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真实运行：8 月 15 日一次全球尺度自主采集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7223760" cy="4297680"/>
          </a:xfrm>
          <a:prstGeom prst="rect">
            <a:avLst/>
          </a:prstGeom>
          <a:solidFill>
            <a:srgbClr val="020B0F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7223760" cy="365760"/>
          </a:xfrm>
          <a:prstGeom prst="rect">
            <a:avLst/>
          </a:prstGeom>
          <a:solidFill>
            <a:srgbClr val="092027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91056"/>
            <a:ext cx="685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91ABB0"/>
                </a:solidFill>
                <a:latin typeface="Aptos Mono"/>
              </a:rPr>
              <a:t>真实运行日志 · 2026-08-15 · 全程自主 · 在线获取公开数据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93392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5E0C1"/>
                </a:solidFill>
                <a:latin typeface="Aptos Mono"/>
              </a:rPr>
              <a:t>$ python3 run_self_correction_loop.py --request ./REQUEST.json \</a:t>
            </a:r>
            <a:br/>
            <a:r>
              <a:rPr sz="1050" b="1">
                <a:solidFill>
                  <a:srgbClr val="35E0C1"/>
                </a:solidFill>
                <a:latin typeface="Aptos Mono"/>
              </a:rPr>
              <a:t>      --online-source auto --analysis-profile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70048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5E0C1"/>
                </a:solidFill>
                <a:latin typeface="Aptos Mono"/>
              </a:rPr>
              <a:t>[来源审计]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670048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63 个候选来源完成准入审计，29 个成功入库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99815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3C969"/>
                </a:solidFill>
                <a:latin typeface="Aptos Mono"/>
              </a:rPr>
              <a:t>[第1轮]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3099815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获取 72,346 条测定；2 个端点持续 HTTP 500，如实记为失败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2958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7AE7FF"/>
                </a:solidFill>
                <a:latin typeface="Aptos Mono"/>
              </a:rPr>
              <a:t>[第2–4轮]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529584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增至 193,655 条；按空间覆盖缺口调度下一轮来源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95935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7AE7FF"/>
                </a:solidFill>
                <a:latin typeface="Aptos Mono"/>
              </a:rPr>
              <a:t>[第5轮]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959352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195,505 条；主要来源已达容量上限，不重复计数扩量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389120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3C969"/>
                </a:solidFill>
                <a:latin typeface="Aptos Mono"/>
              </a:rPr>
              <a:t>[第6轮]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4389120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新增测定为 0——满足零增量终止条件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818888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5E0C1"/>
                </a:solidFill>
                <a:latin typeface="Aptos Mono"/>
              </a:rPr>
              <a:t>[第9轮]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818888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终止采集，发布 191,715 条测定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248656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3C969"/>
                </a:solidFill>
                <a:latin typeface="Aptos Mono"/>
              </a:rPr>
              <a:t>[终态]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5248656"/>
            <a:ext cx="5632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D5E6E8"/>
                </a:solidFill>
                <a:latin typeface="Microsoft YaHei"/>
              </a:rPr>
              <a:t>needs_human_review：238 项缺口进入修复队列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481328"/>
            <a:ext cx="3639312" cy="45720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627632"/>
            <a:ext cx="3337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35E0C1"/>
                </a:solidFill>
                <a:latin typeface="Aptos Mono"/>
              </a:rPr>
              <a:t>在线生产运行 · 全程自主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2048256"/>
            <a:ext cx="3639312" cy="914400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2176272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3C969"/>
                </a:solidFill>
                <a:latin typeface="Aptos Mono"/>
              </a:rPr>
              <a:t>自主终止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5786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91ABB0"/>
                </a:solidFill>
                <a:latin typeface="Microsoft YaHei"/>
              </a:rPr>
              <a:t>零增量后停止采集，不以重复记录扩充数据量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3072384"/>
            <a:ext cx="3639312" cy="914400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20040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35E0C1"/>
                </a:solidFill>
                <a:latin typeface="Aptos Mono"/>
              </a:rPr>
              <a:t>191,715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91ABB0"/>
                </a:solidFill>
                <a:latin typeface="Microsoft YaHei"/>
              </a:rPr>
              <a:t>条测定 · 来自 29 个正式入库的公开来源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8" y="4096512"/>
            <a:ext cx="3639312" cy="914400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422452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3C969"/>
                </a:solidFill>
                <a:latin typeface="Aptos Mono"/>
              </a:rPr>
              <a:t>238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6268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91ABB0"/>
                </a:solidFill>
                <a:latin typeface="Microsoft YaHei"/>
              </a:rPr>
              <a:t>项缺口进入修复队列，逐项标注原因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5138928"/>
            <a:ext cx="3639312" cy="640080"/>
          </a:xfrm>
          <a:prstGeom prst="roundRect">
            <a:avLst/>
          </a:prstGeom>
          <a:solidFill>
            <a:srgbClr val="361B20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5266944"/>
            <a:ext cx="33284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>
                <a:solidFill>
                  <a:srgbClr val="E8C8C5"/>
                </a:solidFill>
                <a:latin typeface="Microsoft YaHei"/>
              </a:rPr>
              <a:t>俄罗斯、南美与岩石介质覆盖不足，如实保留为缺口，未以其他区域的数据量掩盖。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06 · PART 2 · RUN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运行产物：191,715 条测定构成的全球图谱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lobal-run-map-1920x1080.png"/>
          <p:cNvPicPr>
            <a:picLocks noChangeAspect="1"/>
          </p:cNvPicPr>
          <p:nvPr/>
        </p:nvPicPr>
        <p:blipFill>
          <a:blip r:embed="rId2"/>
          <a:srcRect t="15269" b="15269"/>
          <a:stretch>
            <a:fillRect/>
          </a:stretch>
        </p:blipFill>
        <p:spPr>
          <a:xfrm>
            <a:off x="566928" y="1444752"/>
            <a:ext cx="11045952" cy="43159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" y="1682496"/>
            <a:ext cx="2834640" cy="658368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83664"/>
            <a:ext cx="2542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GLOBAL → REGION →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239512"/>
            <a:ext cx="2350008" cy="347472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358384"/>
            <a:ext cx="21671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191,715 条测定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8" y="5239512"/>
            <a:ext cx="2350008" cy="347472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5358384"/>
            <a:ext cx="21671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42,664 个采样点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5239512"/>
            <a:ext cx="2350008" cy="347472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5358384"/>
            <a:ext cx="21671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7 种元素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3" y="5239512"/>
            <a:ext cx="2350008" cy="347472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5358384"/>
            <a:ext cx="21671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Microsoft YaHei"/>
              </a:rPr>
              <a:t>3,351 个异常筛查候选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961888"/>
            <a:ext cx="10954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7AE7FF"/>
                </a:solidFill>
                <a:latin typeface="Microsoft YaHei"/>
              </a:rPr>
              <a:t>自包含单文件 HTML · 无外部依赖 · 离线可用 · 未验证坐标明确标注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07 · PART 2 · RECORD-LEVEL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实际使用：每条测定都支持记录级溯源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-view-1920x1080.png"/>
          <p:cNvPicPr>
            <a:picLocks noChangeAspect="1"/>
          </p:cNvPicPr>
          <p:nvPr/>
        </p:nvPicPr>
        <p:blipFill>
          <a:blip r:embed="rId2"/>
          <a:srcRect l="14226" r="14226"/>
          <a:stretch>
            <a:fillRect/>
          </a:stretch>
        </p:blipFill>
        <p:spPr>
          <a:xfrm>
            <a:off x="566928" y="1481328"/>
            <a:ext cx="5431536" cy="4270248"/>
          </a:xfrm>
          <a:prstGeom prst="rect">
            <a:avLst/>
          </a:prstGeom>
        </p:spPr>
      </p:pic>
      <p:pic>
        <p:nvPicPr>
          <p:cNvPr id="6" name="Picture 5" descr="source-view-1920x1080.png"/>
          <p:cNvPicPr>
            <a:picLocks noChangeAspect="1"/>
          </p:cNvPicPr>
          <p:nvPr/>
        </p:nvPicPr>
        <p:blipFill>
          <a:blip r:embed="rId3"/>
          <a:srcRect l="14226" r="14226"/>
          <a:stretch>
            <a:fillRect/>
          </a:stretch>
        </p:blipFill>
        <p:spPr>
          <a:xfrm>
            <a:off x="6181344" y="1481328"/>
            <a:ext cx="5431536" cy="42702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983480"/>
            <a:ext cx="5010912" cy="566928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51114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标准化记录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5120640"/>
            <a:ext cx="3429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70" b="1">
                <a:solidFill>
                  <a:srgbClr val="91ABB0"/>
                </a:solidFill>
                <a:latin typeface="Microsoft YaHei"/>
              </a:rPr>
              <a:t>原始值 · 标准化值 · 计量单位 · 分析方法 · 质控标记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4983480"/>
            <a:ext cx="5010912" cy="566928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51114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来源与许可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5120640"/>
            <a:ext cx="3429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70" b="1">
                <a:solidFill>
                  <a:srgbClr val="91ABB0"/>
                </a:solidFill>
                <a:latin typeface="Microsoft YaHei"/>
              </a:rPr>
              <a:t>文献 DOI · 源文件行号 · 数据许可 · SHA-256 校验值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502152"/>
            <a:ext cx="6263640" cy="841248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767328"/>
            <a:ext cx="5715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5E0C1"/>
                </a:solidFill>
                <a:latin typeface="Microsoft YaHei"/>
              </a:rPr>
              <a:t>原始测定值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 → 标准化轨迹</a:t>
            </a:r>
            <a:r>
              <a:rPr sz="1300" b="1">
                <a:solidFill>
                  <a:srgbClr val="7AE7FF"/>
                </a:solidFill>
                <a:latin typeface="Microsoft YaHei"/>
              </a:rPr>
              <a:t> → 来源定位</a:t>
            </a:r>
            <a:r>
              <a:rPr sz="1300" b="1">
                <a:solidFill>
                  <a:srgbClr val="F3C969"/>
                </a:solidFill>
                <a:latin typeface="Microsoft YaHei"/>
              </a:rPr>
              <a:t> → 哈希校验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59436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D5E6E8"/>
                </a:solidFill>
                <a:latin typeface="Microsoft YaHei"/>
              </a:rPr>
              <a:t>置信度按四个维度分别报告：来源证据 · 分析就绪度 · 空间可用性 · 工作流完备性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6F61"/>
                </a:solidFill>
                <a:latin typeface="Aptos Mono"/>
              </a:rPr>
              <a:t>08 · PART 2 · SCREENING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异常筛查：一条真实候选的完整判定过程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6766560" cy="34747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481328"/>
            <a:ext cx="6446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D5E6E8"/>
                </a:solidFill>
                <a:latin typeface="Microsoft YaHei"/>
              </a:rPr>
              <a:t>真实样例 · 全球运行产出的 3,351 个筛查候选均经由同一判定链路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83664"/>
            <a:ext cx="3557016" cy="3255264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06824" y="1883664"/>
            <a:ext cx="3557016" cy="3255264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883664"/>
            <a:ext cx="3557016" cy="3255264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665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输入 · 测定值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5915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土壤样品的砷（As）含量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07792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35E0C1"/>
                </a:solidFill>
                <a:latin typeface="Aptos Mono"/>
              </a:rPr>
              <a:t>23.9 mg/kg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2102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1ABB0"/>
                </a:solidFill>
                <a:latin typeface="Microsoft YaHei"/>
              </a:rPr>
              <a:t>美国阿拉巴马州 · A 层土壤样品</a:t>
            </a:r>
            <a:br/>
            <a:r>
              <a:rPr sz="1050" b="0">
                <a:solidFill>
                  <a:srgbClr val="91ABB0"/>
                </a:solidFill>
                <a:latin typeface="Microsoft YaHei"/>
              </a:rPr>
              <a:t>样品编号 C-328917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665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3C969"/>
                </a:solidFill>
                <a:latin typeface="Aptos Mono"/>
              </a:rPr>
              <a:t>判定 · 背景比较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35915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仅在可比分组内比较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2779776"/>
            <a:ext cx="1554480" cy="71323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85292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3C969"/>
                </a:solidFill>
                <a:latin typeface="Aptos Mono"/>
              </a:rPr>
              <a:t>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12724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91ABB0"/>
                </a:solidFill>
                <a:latin typeface="Microsoft YaHei"/>
              </a:rPr>
              <a:t>条可比记录：同介质·同方法·同地质单元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779776"/>
            <a:ext cx="1554480" cy="71323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285292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3C969"/>
                </a:solidFill>
                <a:latin typeface="Aptos Mono"/>
              </a:rPr>
              <a:t>2.30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127248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91ABB0"/>
                </a:solidFill>
                <a:latin typeface="Microsoft YaHei"/>
              </a:rPr>
              <a:t>可比组中位数（mg/kg）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9704" y="3566160"/>
            <a:ext cx="1554480" cy="71323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63931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3C969"/>
                </a:solidFill>
                <a:latin typeface="Aptos Mono"/>
              </a:rPr>
              <a:t>10.4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913632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91ABB0"/>
                </a:solidFill>
                <a:latin typeface="Microsoft YaHei"/>
              </a:rPr>
              <a:t>相对可比组中位数的富集程度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3566160"/>
            <a:ext cx="1554480" cy="71323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363931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3C969"/>
                </a:solidFill>
                <a:latin typeface="Aptos Mono"/>
              </a:rPr>
              <a:t>z = 3.69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913632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91ABB0"/>
                </a:solidFill>
                <a:latin typeface="Microsoft YaHei"/>
              </a:rPr>
              <a:t>稳健 Z 分数，超过 3.5 筛查阈值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9704" y="4462272"/>
            <a:ext cx="3182112" cy="457200"/>
          </a:xfrm>
          <a:prstGeom prst="roundRect">
            <a:avLst/>
          </a:prstGeom>
          <a:solidFill>
            <a:srgbClr val="3A1D21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59943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FFD5D1"/>
                </a:solidFill>
                <a:latin typeface="Aptos Mono"/>
              </a:rPr>
              <a:t>判定结果：高值筛查候选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20665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AE7FF"/>
                </a:solidFill>
                <a:latin typeface="Aptos Mono"/>
              </a:rPr>
              <a:t>输出 · 证据链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35915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判定依据全部可回溯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2798064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分析方法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0358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BB0"/>
                </a:solidFill>
                <a:latin typeface="Microsoft YaHei"/>
              </a:rPr>
              <a:t>氢化物发生-原子吸收光谱（HG-AAS），与比较组一致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54787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数据来源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78561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BB0"/>
                </a:solidFill>
                <a:latin typeface="Microsoft YaHei"/>
              </a:rPr>
              <a:t>USGS DS 801（DOI 10.3133/ds801）· 源文件第 27 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29768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综合置信度 0.79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53542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1ABB0"/>
                </a:solidFill>
                <a:latin typeface="Microsoft YaHei"/>
              </a:rPr>
              <a:t>同时标注：该记录缺少坐标不确定度声明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21808"/>
            <a:ext cx="11045952" cy="603504"/>
          </a:xfrm>
          <a:prstGeom prst="roundRect">
            <a:avLst/>
          </a:prstGeom>
          <a:solidFill>
            <a:srgbClr val="361B20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532120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FFD5D1"/>
                </a:solidFill>
                <a:latin typeface="Microsoft YaHei"/>
              </a:rPr>
              <a:t>系统仅报告：高值筛查候选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541264"/>
            <a:ext cx="7680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D5E6E8"/>
                </a:solidFill>
                <a:latin typeface="Microsoft YaHei"/>
              </a:rPr>
              <a:t>污染、矿化或成因判断需结合采样设计与独立验证，由研究者做出——筛查不构成结论。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09 · PART 2 · RUN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运行验收：成果与局限，一并如实报告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340864" cy="10515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82495"/>
            <a:ext cx="20665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35E0C1"/>
                </a:solidFill>
                <a:latin typeface="Aptos Mono"/>
              </a:rPr>
              <a:t>191,715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57400"/>
            <a:ext cx="20665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条测定实际入库 · 9 轮无重复计数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1572768"/>
            <a:ext cx="2340864" cy="10515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682495"/>
            <a:ext cx="20665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057400"/>
            <a:ext cx="20665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条岩石介质测定 · 上游持续不可用，如实标注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1572768"/>
            <a:ext cx="2340864" cy="10515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682495"/>
            <a:ext cx="20665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22.3%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057400"/>
            <a:ext cx="20665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5° 陆地网格覆盖率（135/605）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572768"/>
            <a:ext cx="1508760" cy="10515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82495"/>
            <a:ext cx="1234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238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57400"/>
            <a:ext cx="123443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项缺口进入修复队列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76104" y="1572768"/>
            <a:ext cx="1636776" cy="10515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3264" y="1682495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 Mono"/>
              </a:rPr>
              <a:t>0 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13264" y="2057400"/>
            <a:ext cx="13624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15 项核心产物独立校验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07792"/>
            <a:ext cx="11045952" cy="226771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21868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3C969"/>
                </a:solidFill>
                <a:latin typeface="Aptos Mono"/>
              </a:rPr>
              <a:t>delivery_ready: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730752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如实报告局限，是科研可信的前提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328416"/>
            <a:ext cx="60350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20" b="0">
                <a:solidFill>
                  <a:srgbClr val="D5E6E8"/>
                </a:solidFill>
                <a:latin typeface="Microsoft YaHei"/>
              </a:rPr>
              <a:t>零增量后自主终止；交付回执明确标注“未达交付标准”，每项缺口附原因与修复建议——这比一张貌似完整的图谱更可信。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6048" y="4343400"/>
            <a:ext cx="6035040" cy="448056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4" y="4507992"/>
            <a:ext cx="5687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30" b="1">
                <a:solidFill>
                  <a:srgbClr val="91ABB0"/>
                </a:solidFill>
                <a:latin typeface="Microsoft YaHei"/>
              </a:rPr>
              <a:t>以上数字均可在运行产物的结构化报告中逐条核对。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623560"/>
            <a:ext cx="109728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7AE7FF"/>
                </a:solidFill>
                <a:latin typeface="Microsoft YaHei"/>
              </a:rPr>
              <a:t>15 项核心产物全部通过独立校验 · 跨环境重跑，结果逐字节一致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62179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5E0C1"/>
                </a:solidFill>
                <a:latin typeface="Aptos Mono"/>
              </a:rPr>
              <a:t>10 · THE NEXT LAYER FOR EARTH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34440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让每个地球化学点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01952"/>
            <a:ext cx="6720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7AE7FF"/>
                </a:solidFill>
                <a:latin typeface="Microsoft YaHei"/>
              </a:rPr>
              <a:t>可追溯 · 可验证</a:t>
            </a:r>
            <a:br/>
            <a:r>
              <a:rPr sz="4000" b="1">
                <a:solidFill>
                  <a:srgbClr val="7AE7FF"/>
                </a:solidFill>
                <a:latin typeface="Microsoft YaHei"/>
              </a:rPr>
              <a:t>可重新计算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56432"/>
            <a:ext cx="5943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D5E6E8"/>
                </a:solidFill>
                <a:latin typeface="Microsoft YaHei"/>
              </a:rPr>
              <a:t>把分散的公开地球化学数据，整编为 Agent 可执行、研究者可复核的科研基础设施。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16552"/>
            <a:ext cx="1664208" cy="768096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35E0C1"/>
                </a:solidFill>
                <a:latin typeface="Aptos Mono"/>
              </a:rPr>
              <a:t>191,715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01184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条测定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1" y="4416552"/>
            <a:ext cx="1664208" cy="768096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1" y="4526280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35E0C1"/>
                </a:solidFill>
                <a:latin typeface="Aptos Mono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1" y="4901184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正式来源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4416552"/>
            <a:ext cx="1664208" cy="768096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4526280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3C969"/>
                </a:solidFill>
                <a:latin typeface="Aptos Mono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4901184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91ABB0"/>
                </a:solidFill>
                <a:latin typeface="Microsoft YaHei"/>
              </a:rPr>
              <a:t>核心产物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024128"/>
            <a:ext cx="1700784" cy="2871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m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197864"/>
            <a:ext cx="1389888" cy="1389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53527" y="27614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061A22"/>
                </a:solidFill>
                <a:latin typeface="Microsoft YaHei"/>
              </a:rPr>
              <a:t>体验在线产品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3218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40" b="1">
                <a:solidFill>
                  <a:srgbClr val="557177"/>
                </a:solidFill>
                <a:latin typeface="Aptos Mono"/>
              </a:rPr>
              <a:t>asimfish.github.io/.../demo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024128"/>
            <a:ext cx="1700784" cy="2871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po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1197864"/>
            <a:ext cx="1389888" cy="1389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19488" y="27614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30" b="1">
                <a:solidFill>
                  <a:srgbClr val="061A22"/>
                </a:solidFill>
                <a:latin typeface="Microsoft YaHei"/>
              </a:rPr>
              <a:t>检查代码与证据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3218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640" b="1">
                <a:solidFill>
                  <a:srgbClr val="557177"/>
                </a:solidFill>
                <a:latin typeface="Aptos Mono"/>
              </a:rPr>
              <a:t>github.com/asimfish/.../skill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449884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GLOBAL GEOCHEMICAL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504748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TEAM 0066 · AI4S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559612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3C969"/>
                </a:solidFill>
                <a:latin typeface="Microsoft YaHei"/>
              </a:rPr>
              <a:t>谢谢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GLOBAL GEOCHEMICAL ATLAS · TEAM 0066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A1 · BACKUP · OUTPUT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15 项核心产物如何对应赛题交付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45952" cy="822960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4592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5E0C1"/>
                </a:solidFill>
                <a:latin typeface="Microsoft YaHei"/>
              </a:rPr>
              <a:t>交互图谱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618488"/>
            <a:ext cx="3950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ptos Mono"/>
              </a:rPr>
              <a:t>interactive_map.html · samples.geojson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18488"/>
            <a:ext cx="495604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D5E6E8"/>
                </a:solidFill>
                <a:latin typeface="Microsoft YaHei"/>
              </a:rPr>
              <a:t>筛选、热力、样点、异常筛查候选；自包含单文件，无外部依赖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95728"/>
            <a:ext cx="11045952" cy="822960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6032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5E0C1"/>
                </a:solidFill>
                <a:latin typeface="Microsoft YaHei"/>
              </a:rPr>
              <a:t>标准化数据库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32888"/>
            <a:ext cx="3950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ptos Mono"/>
              </a:rPr>
              <a:t>geochemistry.csv · batch_acceptance.csv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495604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D5E6E8"/>
                </a:solidFill>
                <a:latin typeface="Microsoft YaHei"/>
              </a:rPr>
              <a:t>原始值、换算轨迹、报告基准、分析方法、批次与质控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11045952" cy="93268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47472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5E0C1"/>
                </a:solidFill>
                <a:latin typeface="Microsoft YaHei"/>
              </a:rPr>
              <a:t>来源与置信度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447288"/>
            <a:ext cx="395020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ptos Mono"/>
              </a:rPr>
              <a:t>sources_and_confidence.json · source_manifest.json</a:t>
            </a:r>
            <a:br/>
            <a:r>
              <a:rPr sz="840" b="1">
                <a:solidFill>
                  <a:srgbClr val="FFFFFF"/>
                </a:solidFill>
                <a:latin typeface="Aptos Mono"/>
              </a:rPr>
              <a:t>record_evidence.jsonl · confidence_report.json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47288"/>
            <a:ext cx="4956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D5E6E8"/>
                </a:solidFill>
                <a:latin typeface="Microsoft YaHei"/>
              </a:rPr>
              <a:t>URL/DOI、许可、版本、SHA-256 校验值、源记录定位；置信度分维度报告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11045952" cy="93268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49884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5E0C1"/>
                </a:solidFill>
                <a:latin typeface="Microsoft YaHei"/>
              </a:rPr>
              <a:t>异常筛查结果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471416"/>
            <a:ext cx="395020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ptos Mono"/>
              </a:rPr>
              <a:t>anomalies.geojson · anomaly_report.json</a:t>
            </a:r>
            <a:br/>
            <a:r>
              <a:rPr sz="840" b="1">
                <a:solidFill>
                  <a:srgbClr val="FFFFFF"/>
                </a:solidFill>
                <a:latin typeface="Aptos Mono"/>
              </a:rPr>
              <a:t>anomaly_regions.geojson · spatial_anomaly_report.json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71416"/>
            <a:ext cx="4956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D5E6E8"/>
                </a:solidFill>
                <a:latin typeface="Microsoft YaHei"/>
              </a:rPr>
              <a:t>记录级稳健 MAD Z 分数 + 空间富集（精确超几何 + BH-FDR）；判定边界完整报告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58384"/>
            <a:ext cx="11045952" cy="93268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52297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3C969"/>
                </a:solidFill>
                <a:latin typeface="Microsoft YaHei"/>
              </a:rPr>
              <a:t>质量与运行证据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5495544"/>
            <a:ext cx="395020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ptos Mono"/>
              </a:rPr>
              <a:t>qc_report.json · batch_qc_report.json</a:t>
            </a:r>
            <a:br/>
            <a:r>
              <a:rPr sz="840" b="1">
                <a:solidFill>
                  <a:srgbClr val="FFFFFF"/>
                </a:solidFill>
                <a:latin typeface="Aptos Mono"/>
              </a:rPr>
              <a:t>iteration_backlog.csv · run_summary.json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495544"/>
            <a:ext cx="4956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30" b="0">
                <a:solidFill>
                  <a:srgbClr val="D5E6E8"/>
                </a:solidFill>
                <a:latin typeface="Microsoft YaHei"/>
              </a:rPr>
              <a:t>逐项质控、失败批次不静默删除、修复队列与产物哈希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BACKUP · OUTPUT CONTRACT · SOURCE: SKILL REPOSITORY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A2 · BACKUP · SOURCE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来源目录：63 个候选完成准入审计，29 个正式入库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45952" cy="80467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28216"/>
            <a:ext cx="932688" cy="457200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FF6F61"/>
                </a:solidFill>
                <a:latin typeface="Microsoft YaHei"/>
              </a:rPr>
              <a:t>岩石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783080"/>
            <a:ext cx="9098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5E6E8"/>
                </a:solidFill>
                <a:latin typeface="Microsoft YaHei"/>
              </a:rPr>
              <a:t>GEOROC · 太古宙克拉通 · 南极板内火山岩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96896"/>
            <a:ext cx="11045952" cy="80467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2752344"/>
            <a:ext cx="932688" cy="457200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35E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07791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35E0C1"/>
                </a:solidFill>
                <a:latin typeface="Microsoft YaHei"/>
              </a:rPr>
              <a:t>土壤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2807208"/>
            <a:ext cx="9098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5E6E8"/>
                </a:solidFill>
                <a:latin typeface="Microsoft YaHei"/>
              </a:rPr>
              <a:t>USGS DS801 · GEMAS · FOREGS 表土/底土/腐殖质 · AfSIS · PANGAEA 北非 · TPDC 中国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21024"/>
            <a:ext cx="11045952" cy="804672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3776472"/>
            <a:ext cx="932688" cy="457200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F3C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931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F3C969"/>
                </a:solidFill>
                <a:latin typeface="Microsoft YaHei"/>
              </a:rPr>
              <a:t>沉积物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3831336"/>
            <a:ext cx="9098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5E6E8"/>
                </a:solidFill>
                <a:latin typeface="Microsoft YaHei"/>
              </a:rPr>
              <a:t>FOREGS 河流/洪泛平原 · GSJ 日本陆地/海洋 · NGSA · MarChem · PANGAEA · 长江/黄河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45152"/>
            <a:ext cx="11045952" cy="804672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4800600"/>
            <a:ext cx="932688" cy="457200"/>
          </a:xfrm>
          <a:prstGeom prst="roundRect">
            <a:avLst/>
          </a:prstGeom>
          <a:solidFill>
            <a:srgbClr val="061A22"/>
          </a:solidFill>
          <a:ln w="8890">
            <a:solidFill>
              <a:srgbClr val="7A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5604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AE7FF"/>
                </a:solidFill>
                <a:latin typeface="Microsoft YaHei"/>
              </a:rPr>
              <a:t>水体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4855464"/>
            <a:ext cx="9098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5E6E8"/>
                </a:solidFill>
                <a:latin typeface="Microsoft YaHei"/>
              </a:rPr>
              <a:t>FOREGS 河水 · GEMStat 全球内陆水 · GEOTRACES IDP2025 海水 · WQP 萨克拉门托河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15584"/>
            <a:ext cx="11045952" cy="457200"/>
          </a:xfrm>
          <a:prstGeom prst="roundRect">
            <a:avLst/>
          </a:prstGeom>
          <a:solidFill>
            <a:srgbClr val="361B20"/>
          </a:solidFill>
          <a:ln w="889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971032"/>
            <a:ext cx="10561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80" b="1">
                <a:solidFill>
                  <a:srgbClr val="FFD4CF"/>
                </a:solidFill>
                <a:latin typeface="Microsoft YaHei"/>
              </a:rPr>
              <a:t>EarthChem 等联邦检索站只作发现层；只有追溯到原始记录后，才可作测量证据。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BACKUP · SOURCES · DOI / LICENSE / VERSION / HASH STORED IN 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35E0C1"/>
                </a:solidFill>
                <a:latin typeface="Aptos Mono"/>
              </a:rPr>
              <a:t>A3 · BACKUP · SCIENTIFIC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57784"/>
            <a:ext cx="11155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评委常问：能否把结果直接当科学结论？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680192" cy="13715"/>
          </a:xfrm>
          <a:prstGeom prst="rect">
            <a:avLst/>
          </a:prstGeom>
          <a:solidFill>
            <a:srgbClr val="35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431536" cy="157276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92224"/>
            <a:ext cx="4956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完全离线能用吗？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40864"/>
            <a:ext cx="49560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1ABB0"/>
                </a:solidFill>
                <a:latin typeface="Microsoft YaHei"/>
              </a:rPr>
              <a:t>能。交互图谱与核心产物均为自包含文件，浏览无需网络、密钥或 GPU；数据采集阶段按需在线访问公开数据库。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72768"/>
            <a:ext cx="5431536" cy="157276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92224"/>
            <a:ext cx="4956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needs_human_review 是失败吗？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40864"/>
            <a:ext cx="49560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1ABB0"/>
                </a:solidFill>
                <a:latin typeface="Microsoft YaHei"/>
              </a:rPr>
              <a:t>不是。它表示系统自主完成采集，并如实报告 238 项缺口待人工复核——不把未达标的结果冒充交付完成。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47287"/>
            <a:ext cx="5431536" cy="1572768"/>
          </a:xfrm>
          <a:prstGeom prst="roundRect">
            <a:avLst/>
          </a:prstGeom>
          <a:solidFill>
            <a:srgbClr val="0B2C35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666744"/>
            <a:ext cx="4956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筛查候选就是污染或矿床吗？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215383"/>
            <a:ext cx="49560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1ABB0"/>
                </a:solidFill>
                <a:latin typeface="Microsoft YaHei"/>
              </a:rPr>
              <a:t>不是。它只是高值筛查候选；自然背景、采样偏差、方法差异与人为输入都是竞争解释，结论需独立验证。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447287"/>
            <a:ext cx="5431536" cy="1572768"/>
          </a:xfrm>
          <a:prstGeom prst="roundRect">
            <a:avLst/>
          </a:prstGeom>
          <a:solidFill>
            <a:srgbClr val="0D313A"/>
          </a:solidFill>
          <a:ln w="8890">
            <a:solidFill>
              <a:srgbClr val="1B5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666744"/>
            <a:ext cx="4956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模型会不会改科学数值？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15383"/>
            <a:ext cx="49560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91ABB0"/>
                </a:solidFill>
                <a:latin typeface="Microsoft YaHei"/>
              </a:rPr>
              <a:t>不会。模型只负责编排与解释；单位换算、坐标转换、质控与异常判定由确定性脚本执行，可逐字节复现。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4184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6F61"/>
                </a:solidFill>
                <a:latin typeface="Aptos Mono"/>
              </a:rPr>
              <a:t>一句话边界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586984"/>
            <a:ext cx="9235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5E6E8"/>
                </a:solidFill>
                <a:latin typeface="Microsoft YaHei"/>
              </a:rPr>
              <a:t>图谱用于筛查、比较与定位证据；成因结论需要独立的采样设计、分析质量与地质证据。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7772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91ABB0"/>
                </a:solidFill>
                <a:latin typeface="Aptos Mono"/>
              </a:rPr>
              <a:t>BACKUP · FAQ · CANDIDATE ≠ CAUSAL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47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Aptos Mono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Geochemical Atlas · AI4S Final Pitch</dc:title>
  <dc:subject>TEAM 0066 · Global Geochemical Atlas Skill</dc:subject>
  <dc:creator>TEAM 0066</dc:creator>
  <cp:keywords>AI4S, geochemistry, Agent Skill, provenance, reproducibility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